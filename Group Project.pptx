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8" r:id="rId11"/>
    <p:sldId id="265" r:id="rId12"/>
    <p:sldId id="266" r:id="rId13"/>
    <p:sldId id="267" r:id="rId14"/>
  </p:sldIdLst>
  <p:sldSz cx="18288000" cy="10287000"/>
  <p:notesSz cx="6858000" cy="9144000"/>
  <p:embeddedFontLst>
    <p:embeddedFont>
      <p:font typeface="Alike" panose="020B0604020202020204" charset="0"/>
      <p:regular r:id="rId15"/>
    </p:embeddedFont>
    <p:embeddedFont>
      <p:font typeface="Alike Bold" panose="020B0604020202020204" charset="0"/>
      <p:regular r:id="rId16"/>
    </p:embeddedFont>
    <p:embeddedFont>
      <p:font typeface="Arial Black" panose="020B0A04020102020204" pitchFamily="34" charset="0"/>
      <p:bold r:id="rId17"/>
    </p:embeddedFont>
    <p:embeddedFont>
      <p:font typeface="Eras Bold ITC" panose="020B0907030504020204" pitchFamily="34" charset="0"/>
      <p:regular r:id="rId18"/>
    </p:embeddedFont>
    <p:embeddedFont>
      <p:font typeface="Fahkwang Bold" panose="020B0604020202020204" charset="-34"/>
      <p:regular r:id="rId19"/>
    </p:embeddedFont>
    <p:embeddedFont>
      <p:font typeface="Luciole" panose="020B0604020202020204" charset="0"/>
      <p:regular r:id="rId20"/>
    </p:embeddedFont>
    <p:embeddedFont>
      <p:font typeface="Maven Pro" panose="020B0604020202020204" charset="0"/>
      <p:regular r:id="rId21"/>
    </p:embeddedFont>
    <p:embeddedFont>
      <p:font typeface="Maven Pro Bold" panose="020B0604020202020204"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8.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2.sv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6.sv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9.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4.sv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9.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2.sv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sp>
        <p:nvSpPr>
          <p:cNvPr id="2" name="TextBox 2"/>
          <p:cNvSpPr txBox="1"/>
          <p:nvPr/>
        </p:nvSpPr>
        <p:spPr>
          <a:xfrm>
            <a:off x="1276302" y="2972189"/>
            <a:ext cx="14021197" cy="3507506"/>
          </a:xfrm>
          <a:prstGeom prst="rect">
            <a:avLst/>
          </a:prstGeom>
        </p:spPr>
        <p:txBody>
          <a:bodyPr lIns="0" tIns="0" rIns="0" bIns="0" rtlCol="0" anchor="t">
            <a:spAutoFit/>
          </a:bodyPr>
          <a:lstStyle/>
          <a:p>
            <a:pPr algn="l">
              <a:lnSpc>
                <a:spcPts val="6897"/>
              </a:lnSpc>
            </a:pPr>
            <a:r>
              <a:rPr lang="en-US" sz="8621" b="1" dirty="0">
                <a:solidFill>
                  <a:srgbClr val="252930"/>
                </a:solidFill>
                <a:latin typeface="Eras Bold ITC" panose="020B0907030504020204" pitchFamily="34" charset="0"/>
                <a:ea typeface="Fahkwang Bold"/>
                <a:cs typeface="Fahkwang Bold"/>
                <a:sym typeface="Fahkwang Bold"/>
              </a:rPr>
              <a:t>PLAGIARISM DETECTION USING KMP ALGORITHM</a:t>
            </a:r>
          </a:p>
          <a:p>
            <a:pPr algn="l">
              <a:lnSpc>
                <a:spcPts val="6346"/>
              </a:lnSpc>
            </a:pPr>
            <a:endParaRPr lang="en-US" sz="8621" b="1" dirty="0">
              <a:solidFill>
                <a:srgbClr val="252930"/>
              </a:solidFill>
              <a:latin typeface="Eras Bold ITC" panose="020B0907030504020204" pitchFamily="34" charset="0"/>
              <a:ea typeface="Fahkwang Bold"/>
              <a:cs typeface="Fahkwang Bold"/>
              <a:sym typeface="Fahkwang Bold"/>
            </a:endParaRPr>
          </a:p>
        </p:txBody>
      </p:sp>
      <p:sp>
        <p:nvSpPr>
          <p:cNvPr id="3" name="Freeform 3"/>
          <p:cNvSpPr/>
          <p:nvPr/>
        </p:nvSpPr>
        <p:spPr>
          <a:xfrm flipH="1">
            <a:off x="-211950" y="-104775"/>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V="1">
            <a:off x="14297025" y="6296025"/>
            <a:ext cx="4114800" cy="4114800"/>
          </a:xfrm>
          <a:custGeom>
            <a:avLst/>
            <a:gdLst/>
            <a:ahLst/>
            <a:cxnLst/>
            <a:rect l="l" t="t" r="r" b="b"/>
            <a:pathLst>
              <a:path w="4114800" h="4114800">
                <a:moveTo>
                  <a:pt x="0" y="4114800"/>
                </a:moveTo>
                <a:lnTo>
                  <a:pt x="4114800" y="4114800"/>
                </a:lnTo>
                <a:lnTo>
                  <a:pt x="4114800"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0" y="8039083"/>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17657548" y="293921"/>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1028700" y="9077308"/>
            <a:ext cx="2716317" cy="1358159"/>
          </a:xfrm>
          <a:custGeom>
            <a:avLst/>
            <a:gdLst/>
            <a:ahLst/>
            <a:cxnLst/>
            <a:rect l="l" t="t" r="r" b="b"/>
            <a:pathLst>
              <a:path w="2716317" h="1358159">
                <a:moveTo>
                  <a:pt x="0" y="0"/>
                </a:moveTo>
                <a:lnTo>
                  <a:pt x="2716317" y="0"/>
                </a:lnTo>
                <a:lnTo>
                  <a:pt x="2716317" y="1358159"/>
                </a:lnTo>
                <a:lnTo>
                  <a:pt x="0" y="135815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flipV="1">
            <a:off x="14542983" y="-104775"/>
            <a:ext cx="2716317" cy="1358159"/>
          </a:xfrm>
          <a:custGeom>
            <a:avLst/>
            <a:gdLst/>
            <a:ahLst/>
            <a:cxnLst/>
            <a:rect l="l" t="t" r="r" b="b"/>
            <a:pathLst>
              <a:path w="2716317" h="1358159">
                <a:moveTo>
                  <a:pt x="0" y="1358159"/>
                </a:moveTo>
                <a:lnTo>
                  <a:pt x="2716317" y="1358159"/>
                </a:lnTo>
                <a:lnTo>
                  <a:pt x="2716317" y="0"/>
                </a:lnTo>
                <a:lnTo>
                  <a:pt x="0" y="0"/>
                </a:lnTo>
                <a:lnTo>
                  <a:pt x="0" y="1358159"/>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TextBox 9"/>
          <p:cNvSpPr txBox="1"/>
          <p:nvPr/>
        </p:nvSpPr>
        <p:spPr>
          <a:xfrm>
            <a:off x="5434828" y="5573455"/>
            <a:ext cx="11824472" cy="518155"/>
          </a:xfrm>
          <a:prstGeom prst="rect">
            <a:avLst/>
          </a:prstGeom>
        </p:spPr>
        <p:txBody>
          <a:bodyPr lIns="0" tIns="0" rIns="0" bIns="0" rtlCol="0" anchor="t">
            <a:spAutoFit/>
          </a:bodyPr>
          <a:lstStyle/>
          <a:p>
            <a:pPr algn="ctr">
              <a:lnSpc>
                <a:spcPts val="4317"/>
              </a:lnSpc>
            </a:pPr>
            <a:r>
              <a:rPr lang="en-US" sz="3083" dirty="0">
                <a:solidFill>
                  <a:srgbClr val="252930"/>
                </a:solidFill>
                <a:latin typeface="Luciole"/>
                <a:ea typeface="Luciole"/>
                <a:cs typeface="Luciole"/>
                <a:sym typeface="Luciole"/>
              </a:rPr>
              <a:t>A Case Study on Efficient Text Matching</a:t>
            </a:r>
          </a:p>
        </p:txBody>
      </p:sp>
      <p:sp>
        <p:nvSpPr>
          <p:cNvPr id="10" name="TextBox 2">
            <a:extLst>
              <a:ext uri="{FF2B5EF4-FFF2-40B4-BE49-F238E27FC236}">
                <a16:creationId xmlns:a16="http://schemas.microsoft.com/office/drawing/2014/main" id="{C5FD695D-6275-681E-F7BC-7942F8336BBE}"/>
              </a:ext>
            </a:extLst>
          </p:cNvPr>
          <p:cNvSpPr txBox="1"/>
          <p:nvPr/>
        </p:nvSpPr>
        <p:spPr>
          <a:xfrm>
            <a:off x="11776313" y="7964423"/>
            <a:ext cx="6392539" cy="961674"/>
          </a:xfrm>
          <a:prstGeom prst="rect">
            <a:avLst/>
          </a:prstGeom>
        </p:spPr>
        <p:txBody>
          <a:bodyPr wrap="square" lIns="0" tIns="0" rIns="0" bIns="0" rtlCol="0" anchor="t">
            <a:spAutoFit/>
          </a:bodyPr>
          <a:lstStyle/>
          <a:p>
            <a:pPr algn="l">
              <a:lnSpc>
                <a:spcPts val="6897"/>
              </a:lnSpc>
            </a:pPr>
            <a:r>
              <a:rPr lang="en-US" sz="8621" b="1" dirty="0">
                <a:solidFill>
                  <a:srgbClr val="252930"/>
                </a:solidFill>
                <a:latin typeface="Fahkwang Bold"/>
                <a:ea typeface="Fahkwang Bold"/>
                <a:cs typeface="Fahkwang Bold"/>
                <a:sym typeface="Fahkwang Bold"/>
              </a:rPr>
              <a:t>Grp -9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grpSp>
        <p:nvGrpSpPr>
          <p:cNvPr id="2" name="Group 2"/>
          <p:cNvGrpSpPr/>
          <p:nvPr/>
        </p:nvGrpSpPr>
        <p:grpSpPr>
          <a:xfrm>
            <a:off x="1390233" y="2307936"/>
            <a:ext cx="16126242" cy="6567937"/>
            <a:chOff x="0" y="0"/>
            <a:chExt cx="3678810" cy="1332685"/>
          </a:xfrm>
        </p:grpSpPr>
        <p:sp>
          <p:nvSpPr>
            <p:cNvPr id="3" name="Freeform 3"/>
            <p:cNvSpPr/>
            <p:nvPr/>
          </p:nvSpPr>
          <p:spPr>
            <a:xfrm>
              <a:off x="0" y="0"/>
              <a:ext cx="3678810" cy="1332685"/>
            </a:xfrm>
            <a:custGeom>
              <a:avLst/>
              <a:gdLst/>
              <a:ahLst/>
              <a:cxnLst/>
              <a:rect l="l" t="t" r="r" b="b"/>
              <a:pathLst>
                <a:path w="3678810" h="1332685">
                  <a:moveTo>
                    <a:pt x="28267" y="0"/>
                  </a:moveTo>
                  <a:lnTo>
                    <a:pt x="3650543" y="0"/>
                  </a:lnTo>
                  <a:cubicBezTo>
                    <a:pt x="3666155" y="0"/>
                    <a:pt x="3678810" y="12656"/>
                    <a:pt x="3678810" y="28267"/>
                  </a:cubicBezTo>
                  <a:lnTo>
                    <a:pt x="3678810" y="1304418"/>
                  </a:lnTo>
                  <a:cubicBezTo>
                    <a:pt x="3678810" y="1320029"/>
                    <a:pt x="3666155" y="1332685"/>
                    <a:pt x="3650543" y="1332685"/>
                  </a:cubicBezTo>
                  <a:lnTo>
                    <a:pt x="28267" y="1332685"/>
                  </a:lnTo>
                  <a:cubicBezTo>
                    <a:pt x="20770" y="1332685"/>
                    <a:pt x="13580" y="1329707"/>
                    <a:pt x="8279" y="1324406"/>
                  </a:cubicBezTo>
                  <a:cubicBezTo>
                    <a:pt x="2978" y="1319105"/>
                    <a:pt x="0" y="1311915"/>
                    <a:pt x="0" y="1304418"/>
                  </a:cubicBezTo>
                  <a:lnTo>
                    <a:pt x="0" y="28267"/>
                  </a:lnTo>
                  <a:cubicBezTo>
                    <a:pt x="0" y="12656"/>
                    <a:pt x="12656" y="0"/>
                    <a:pt x="28267" y="0"/>
                  </a:cubicBezTo>
                  <a:close/>
                </a:path>
              </a:pathLst>
            </a:custGeom>
            <a:solidFill>
              <a:srgbClr val="C0B3A0">
                <a:alpha val="20784"/>
              </a:srgbClr>
            </a:solidFill>
            <a:ln w="47625" cap="rnd">
              <a:solidFill>
                <a:srgbClr val="000000">
                  <a:alpha val="20784"/>
                </a:srgbClr>
              </a:solidFill>
              <a:prstDash val="solid"/>
              <a:round/>
            </a:ln>
          </p:spPr>
        </p:sp>
        <p:sp>
          <p:nvSpPr>
            <p:cNvPr id="4" name="TextBox 4"/>
            <p:cNvSpPr txBox="1"/>
            <p:nvPr/>
          </p:nvSpPr>
          <p:spPr>
            <a:xfrm>
              <a:off x="0" y="-38100"/>
              <a:ext cx="3678810" cy="137078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2005940" y="2841138"/>
            <a:ext cx="6833259" cy="4693366"/>
            <a:chOff x="-1201845" y="-1492044"/>
            <a:chExt cx="9111012" cy="6257821"/>
          </a:xfrm>
        </p:grpSpPr>
        <p:sp>
          <p:nvSpPr>
            <p:cNvPr id="6" name="TextBox 6"/>
            <p:cNvSpPr txBox="1"/>
            <p:nvPr/>
          </p:nvSpPr>
          <p:spPr>
            <a:xfrm>
              <a:off x="-1201844" y="-1492044"/>
              <a:ext cx="6792024" cy="1170748"/>
            </a:xfrm>
            <a:prstGeom prst="rect">
              <a:avLst/>
            </a:prstGeom>
          </p:spPr>
          <p:txBody>
            <a:bodyPr lIns="0" tIns="0" rIns="0" bIns="0" rtlCol="0" anchor="t">
              <a:spAutoFit/>
            </a:bodyPr>
            <a:lstStyle/>
            <a:p>
              <a:pPr marL="872741" lvl="1" indent="-436370" algn="just">
                <a:lnSpc>
                  <a:spcPts val="8084"/>
                </a:lnSpc>
                <a:buFont typeface="Arial"/>
                <a:buChar char="•"/>
              </a:pPr>
              <a:r>
                <a:rPr lang="en-US" sz="3600" dirty="0">
                  <a:solidFill>
                    <a:srgbClr val="252930"/>
                  </a:solidFill>
                  <a:latin typeface="Maven Pro"/>
                  <a:ea typeface="Maven Pro"/>
                  <a:cs typeface="Maven Pro"/>
                  <a:sym typeface="Maven Pro"/>
                </a:rPr>
                <a:t>Introduction</a:t>
              </a:r>
            </a:p>
          </p:txBody>
        </p:sp>
        <p:sp>
          <p:nvSpPr>
            <p:cNvPr id="7" name="TextBox 7"/>
            <p:cNvSpPr txBox="1"/>
            <p:nvPr/>
          </p:nvSpPr>
          <p:spPr>
            <a:xfrm>
              <a:off x="-1201844" y="-21732"/>
              <a:ext cx="6792024" cy="1156129"/>
            </a:xfrm>
            <a:prstGeom prst="rect">
              <a:avLst/>
            </a:prstGeom>
          </p:spPr>
          <p:txBody>
            <a:bodyPr lIns="0" tIns="0" rIns="0" bIns="0" rtlCol="0" anchor="t">
              <a:spAutoFit/>
            </a:bodyPr>
            <a:lstStyle/>
            <a:p>
              <a:pPr marL="872741" lvl="1" indent="-436370" algn="just">
                <a:lnSpc>
                  <a:spcPts val="8084"/>
                </a:lnSpc>
                <a:buFont typeface="Arial"/>
                <a:buChar char="•"/>
              </a:pPr>
              <a:r>
                <a:rPr lang="en-US" sz="3200" dirty="0">
                  <a:solidFill>
                    <a:srgbClr val="252930"/>
                  </a:solidFill>
                  <a:latin typeface="Maven Pro"/>
                  <a:ea typeface="Maven Pro"/>
                  <a:cs typeface="Maven Pro"/>
                  <a:sym typeface="Maven Pro"/>
                </a:rPr>
                <a:t>Why detect plagiarism</a:t>
              </a:r>
            </a:p>
          </p:txBody>
        </p:sp>
        <p:sp>
          <p:nvSpPr>
            <p:cNvPr id="8" name="TextBox 8"/>
            <p:cNvSpPr txBox="1"/>
            <p:nvPr/>
          </p:nvSpPr>
          <p:spPr>
            <a:xfrm>
              <a:off x="-1186853" y="1125107"/>
              <a:ext cx="6792024" cy="2571987"/>
            </a:xfrm>
            <a:prstGeom prst="rect">
              <a:avLst/>
            </a:prstGeom>
          </p:spPr>
          <p:txBody>
            <a:bodyPr lIns="0" tIns="0" rIns="0" bIns="0" rtlCol="0" anchor="t">
              <a:spAutoFit/>
            </a:bodyPr>
            <a:lstStyle/>
            <a:p>
              <a:pPr marL="872741" lvl="1" indent="-436370" algn="just">
                <a:lnSpc>
                  <a:spcPts val="8084"/>
                </a:lnSpc>
                <a:buFont typeface="Arial"/>
                <a:buChar char="•"/>
              </a:pPr>
              <a:r>
                <a:rPr lang="en-US" sz="2800" dirty="0">
                  <a:solidFill>
                    <a:srgbClr val="252930"/>
                  </a:solidFill>
                  <a:latin typeface="Maven Pro"/>
                  <a:ea typeface="Maven Pro"/>
                  <a:cs typeface="Maven Pro"/>
                  <a:sym typeface="Maven Pro"/>
                </a:rPr>
                <a:t>Exiting Methods vs KMP algorithm</a:t>
              </a:r>
            </a:p>
          </p:txBody>
        </p:sp>
        <p:sp>
          <p:nvSpPr>
            <p:cNvPr id="9" name="TextBox 9"/>
            <p:cNvSpPr txBox="1"/>
            <p:nvPr/>
          </p:nvSpPr>
          <p:spPr>
            <a:xfrm>
              <a:off x="-1201845" y="3609648"/>
              <a:ext cx="9111012" cy="1156129"/>
            </a:xfrm>
            <a:prstGeom prst="rect">
              <a:avLst/>
            </a:prstGeom>
          </p:spPr>
          <p:txBody>
            <a:bodyPr wrap="square" lIns="0" tIns="0" rIns="0" bIns="0" rtlCol="0" anchor="t">
              <a:spAutoFit/>
            </a:bodyPr>
            <a:lstStyle/>
            <a:p>
              <a:pPr marL="872741" lvl="1" indent="-436370" algn="just">
                <a:lnSpc>
                  <a:spcPts val="8084"/>
                </a:lnSpc>
                <a:buFont typeface="Arial"/>
                <a:buChar char="•"/>
              </a:pPr>
              <a:r>
                <a:rPr lang="en-US" sz="3200" dirty="0">
                  <a:solidFill>
                    <a:srgbClr val="252930"/>
                  </a:solidFill>
                  <a:latin typeface="Maven Pro"/>
                  <a:ea typeface="Maven Pro"/>
                  <a:cs typeface="Maven Pro"/>
                  <a:sym typeface="Maven Pro"/>
                </a:rPr>
                <a:t>How KMP algorithm works ?</a:t>
              </a:r>
            </a:p>
          </p:txBody>
        </p:sp>
      </p:grpSp>
      <p:grpSp>
        <p:nvGrpSpPr>
          <p:cNvPr id="10" name="Group 10"/>
          <p:cNvGrpSpPr/>
          <p:nvPr/>
        </p:nvGrpSpPr>
        <p:grpSpPr>
          <a:xfrm>
            <a:off x="9510550" y="2853005"/>
            <a:ext cx="8263100" cy="4741497"/>
            <a:chOff x="-495300" y="-1463521"/>
            <a:chExt cx="11017467" cy="6321996"/>
          </a:xfrm>
        </p:grpSpPr>
        <p:sp>
          <p:nvSpPr>
            <p:cNvPr id="11" name="TextBox 11"/>
            <p:cNvSpPr txBox="1"/>
            <p:nvPr/>
          </p:nvSpPr>
          <p:spPr>
            <a:xfrm>
              <a:off x="-495300" y="-1463521"/>
              <a:ext cx="11017467" cy="1156129"/>
            </a:xfrm>
            <a:prstGeom prst="rect">
              <a:avLst/>
            </a:prstGeom>
          </p:spPr>
          <p:txBody>
            <a:bodyPr wrap="square" lIns="0" tIns="0" rIns="0" bIns="0" rtlCol="0" anchor="t">
              <a:spAutoFit/>
            </a:bodyPr>
            <a:lstStyle/>
            <a:p>
              <a:pPr marL="872741" lvl="1" indent="-436370" algn="just">
                <a:lnSpc>
                  <a:spcPts val="8084"/>
                </a:lnSpc>
                <a:buFont typeface="Arial"/>
                <a:buChar char="•"/>
              </a:pPr>
              <a:r>
                <a:rPr lang="en-US" sz="3200" dirty="0">
                  <a:solidFill>
                    <a:srgbClr val="252930"/>
                  </a:solidFill>
                  <a:latin typeface="Maven Pro"/>
                  <a:ea typeface="Maven Pro"/>
                  <a:cs typeface="Maven Pro"/>
                  <a:sym typeface="Maven Pro"/>
                </a:rPr>
                <a:t>Case Study – real –world  Application</a:t>
              </a:r>
            </a:p>
          </p:txBody>
        </p:sp>
        <p:sp>
          <p:nvSpPr>
            <p:cNvPr id="12" name="TextBox 12"/>
            <p:cNvSpPr txBox="1"/>
            <p:nvPr/>
          </p:nvSpPr>
          <p:spPr>
            <a:xfrm>
              <a:off x="-495300" y="72999"/>
              <a:ext cx="6792024" cy="1186992"/>
            </a:xfrm>
            <a:prstGeom prst="rect">
              <a:avLst/>
            </a:prstGeom>
          </p:spPr>
          <p:txBody>
            <a:bodyPr lIns="0" tIns="0" rIns="0" bIns="0" rtlCol="0" anchor="t">
              <a:spAutoFit/>
            </a:bodyPr>
            <a:lstStyle/>
            <a:p>
              <a:pPr marL="872741" lvl="1" indent="-436370" algn="just">
                <a:lnSpc>
                  <a:spcPts val="8084"/>
                </a:lnSpc>
                <a:buFont typeface="Arial"/>
                <a:buChar char="•"/>
              </a:pPr>
              <a:r>
                <a:rPr lang="en-US" sz="3200" dirty="0">
                  <a:solidFill>
                    <a:srgbClr val="252930"/>
                  </a:solidFill>
                  <a:latin typeface="Maven Pro"/>
                  <a:ea typeface="Maven Pro"/>
                  <a:cs typeface="Maven Pro"/>
                  <a:sym typeface="Maven Pro"/>
                </a:rPr>
                <a:t>Test Cases</a:t>
              </a:r>
            </a:p>
          </p:txBody>
        </p:sp>
        <p:sp>
          <p:nvSpPr>
            <p:cNvPr id="13" name="TextBox 13"/>
            <p:cNvSpPr txBox="1"/>
            <p:nvPr/>
          </p:nvSpPr>
          <p:spPr>
            <a:xfrm>
              <a:off x="-465664" y="1341848"/>
              <a:ext cx="10026867" cy="1186992"/>
            </a:xfrm>
            <a:prstGeom prst="rect">
              <a:avLst/>
            </a:prstGeom>
          </p:spPr>
          <p:txBody>
            <a:bodyPr wrap="square" lIns="0" tIns="0" rIns="0" bIns="0" rtlCol="0" anchor="t">
              <a:spAutoFit/>
            </a:bodyPr>
            <a:lstStyle/>
            <a:p>
              <a:pPr marL="872741" lvl="1" indent="-436370" algn="just">
                <a:lnSpc>
                  <a:spcPts val="8084"/>
                </a:lnSpc>
                <a:buFont typeface="Arial"/>
                <a:buChar char="•"/>
              </a:pPr>
              <a:r>
                <a:rPr lang="en-US" sz="3200" dirty="0">
                  <a:solidFill>
                    <a:srgbClr val="252930"/>
                  </a:solidFill>
                  <a:latin typeface="Maven Pro"/>
                  <a:ea typeface="Maven Pro"/>
                  <a:cs typeface="Maven Pro"/>
                  <a:sym typeface="Maven Pro"/>
                </a:rPr>
                <a:t>Code implementation</a:t>
              </a:r>
            </a:p>
          </p:txBody>
        </p:sp>
        <p:sp>
          <p:nvSpPr>
            <p:cNvPr id="14" name="TextBox 14"/>
            <p:cNvSpPr txBox="1"/>
            <p:nvPr/>
          </p:nvSpPr>
          <p:spPr>
            <a:xfrm>
              <a:off x="-437349" y="3671483"/>
              <a:ext cx="6792024" cy="1186992"/>
            </a:xfrm>
            <a:prstGeom prst="rect">
              <a:avLst/>
            </a:prstGeom>
          </p:spPr>
          <p:txBody>
            <a:bodyPr lIns="0" tIns="0" rIns="0" bIns="0" rtlCol="0" anchor="t">
              <a:spAutoFit/>
            </a:bodyPr>
            <a:lstStyle/>
            <a:p>
              <a:pPr marL="872741" lvl="1" indent="-436370" algn="just">
                <a:lnSpc>
                  <a:spcPts val="8084"/>
                </a:lnSpc>
                <a:buFont typeface="Arial"/>
                <a:buChar char="•"/>
              </a:pPr>
              <a:r>
                <a:rPr lang="en-US" sz="3200" dirty="0">
                  <a:solidFill>
                    <a:srgbClr val="252930"/>
                  </a:solidFill>
                  <a:latin typeface="Maven Pro"/>
                  <a:ea typeface="Maven Pro"/>
                  <a:cs typeface="Maven Pro"/>
                  <a:sym typeface="Maven Pro"/>
                </a:rPr>
                <a:t>Conclusion</a:t>
              </a:r>
            </a:p>
          </p:txBody>
        </p:sp>
      </p:grpSp>
      <p:sp>
        <p:nvSpPr>
          <p:cNvPr id="15" name="TextBox 15"/>
          <p:cNvSpPr txBox="1"/>
          <p:nvPr/>
        </p:nvSpPr>
        <p:spPr>
          <a:xfrm>
            <a:off x="4995148" y="1179091"/>
            <a:ext cx="8297704" cy="845492"/>
          </a:xfrm>
          <a:prstGeom prst="rect">
            <a:avLst/>
          </a:prstGeom>
        </p:spPr>
        <p:txBody>
          <a:bodyPr lIns="0" tIns="0" rIns="0" bIns="0" rtlCol="0" anchor="t">
            <a:spAutoFit/>
          </a:bodyPr>
          <a:lstStyle/>
          <a:p>
            <a:pPr algn="ctr">
              <a:lnSpc>
                <a:spcPts val="5841"/>
              </a:lnSpc>
            </a:pPr>
            <a:r>
              <a:rPr lang="en-US" sz="7301" b="1" dirty="0">
                <a:solidFill>
                  <a:srgbClr val="252D37"/>
                </a:solidFill>
                <a:latin typeface="Maven Pro Bold"/>
                <a:ea typeface="Maven Pro Bold"/>
                <a:cs typeface="Maven Pro Bold"/>
                <a:sym typeface="Maven Pro Bold"/>
              </a:rPr>
              <a:t>OVERVIEW</a:t>
            </a:r>
          </a:p>
        </p:txBody>
      </p:sp>
      <p:sp>
        <p:nvSpPr>
          <p:cNvPr id="16" name="Freeform 16"/>
          <p:cNvSpPr/>
          <p:nvPr/>
        </p:nvSpPr>
        <p:spPr>
          <a:xfrm flipH="1">
            <a:off x="-211950" y="-104775"/>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7" name="Freeform 17"/>
          <p:cNvSpPr/>
          <p:nvPr/>
        </p:nvSpPr>
        <p:spPr>
          <a:xfrm>
            <a:off x="1777365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8" name="Freeform 18"/>
          <p:cNvSpPr/>
          <p:nvPr/>
        </p:nvSpPr>
        <p:spPr>
          <a:xfrm>
            <a:off x="14542983" y="9077308"/>
            <a:ext cx="2716317" cy="1358159"/>
          </a:xfrm>
          <a:custGeom>
            <a:avLst/>
            <a:gdLst/>
            <a:ahLst/>
            <a:cxnLst/>
            <a:rect l="l" t="t" r="r" b="b"/>
            <a:pathLst>
              <a:path w="2716317" h="1358159">
                <a:moveTo>
                  <a:pt x="0" y="0"/>
                </a:moveTo>
                <a:lnTo>
                  <a:pt x="2716317" y="0"/>
                </a:lnTo>
                <a:lnTo>
                  <a:pt x="2716317" y="1358159"/>
                </a:lnTo>
                <a:lnTo>
                  <a:pt x="0" y="135815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9" name="TextBox 13">
            <a:extLst>
              <a:ext uri="{FF2B5EF4-FFF2-40B4-BE49-F238E27FC236}">
                <a16:creationId xmlns:a16="http://schemas.microsoft.com/office/drawing/2014/main" id="{6706B022-6A56-CF42-4D1A-9524E73A0A49}"/>
              </a:ext>
            </a:extLst>
          </p:cNvPr>
          <p:cNvSpPr txBox="1"/>
          <p:nvPr/>
        </p:nvSpPr>
        <p:spPr>
          <a:xfrm>
            <a:off x="9552442" y="5941161"/>
            <a:ext cx="7520150" cy="890244"/>
          </a:xfrm>
          <a:prstGeom prst="rect">
            <a:avLst/>
          </a:prstGeom>
        </p:spPr>
        <p:txBody>
          <a:bodyPr wrap="square" lIns="0" tIns="0" rIns="0" bIns="0" rtlCol="0" anchor="t">
            <a:spAutoFit/>
          </a:bodyPr>
          <a:lstStyle/>
          <a:p>
            <a:pPr marL="872741" lvl="1" indent="-436370" algn="just">
              <a:lnSpc>
                <a:spcPts val="8084"/>
              </a:lnSpc>
              <a:buFont typeface="Arial"/>
              <a:buChar char="•"/>
            </a:pPr>
            <a:r>
              <a:rPr lang="en-US" sz="3200" dirty="0">
                <a:solidFill>
                  <a:srgbClr val="252930"/>
                </a:solidFill>
                <a:latin typeface="Maven Pro"/>
                <a:ea typeface="Maven Pro"/>
                <a:cs typeface="Maven Pro"/>
                <a:sym typeface="Maven Pro"/>
              </a:rPr>
              <a:t>Time Complexity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sp>
        <p:nvSpPr>
          <p:cNvPr id="2" name="TextBox 2"/>
          <p:cNvSpPr txBox="1"/>
          <p:nvPr/>
        </p:nvSpPr>
        <p:spPr>
          <a:xfrm>
            <a:off x="862096" y="3648075"/>
            <a:ext cx="13297277" cy="6571615"/>
          </a:xfrm>
          <a:prstGeom prst="rect">
            <a:avLst/>
          </a:prstGeom>
        </p:spPr>
        <p:txBody>
          <a:bodyPr lIns="0" tIns="0" rIns="0" bIns="0" rtlCol="0" anchor="t">
            <a:spAutoFit/>
          </a:bodyPr>
          <a:lstStyle/>
          <a:p>
            <a:pPr algn="just">
              <a:lnSpc>
                <a:spcPts val="4759"/>
              </a:lnSpc>
            </a:pPr>
            <a:r>
              <a:rPr lang="en-US" sz="3399">
                <a:solidFill>
                  <a:srgbClr val="252930"/>
                </a:solidFill>
                <a:latin typeface="Alike"/>
                <a:ea typeface="Alike"/>
                <a:cs typeface="Alike"/>
                <a:sym typeface="Alike"/>
              </a:rPr>
              <a:t>Plagiarism is the act of using someone else's work, ideas, or intellectual property without proper acknowledgment and presenting it as one’s own. It can occur in writing, coding, research, or creative work and is considered unethical.</a:t>
            </a:r>
          </a:p>
          <a:p>
            <a:pPr algn="just">
              <a:lnSpc>
                <a:spcPts val="4759"/>
              </a:lnSpc>
            </a:pPr>
            <a:endParaRPr lang="en-US" sz="3399">
              <a:solidFill>
                <a:srgbClr val="252930"/>
              </a:solidFill>
              <a:latin typeface="Alike"/>
              <a:ea typeface="Alike"/>
              <a:cs typeface="Alike"/>
              <a:sym typeface="Alike"/>
            </a:endParaRPr>
          </a:p>
          <a:p>
            <a:pPr algn="just">
              <a:lnSpc>
                <a:spcPts val="4759"/>
              </a:lnSpc>
            </a:pPr>
            <a:r>
              <a:rPr lang="en-US" sz="3399" u="sng">
                <a:solidFill>
                  <a:srgbClr val="252930"/>
                </a:solidFill>
                <a:latin typeface="Alike Bold"/>
                <a:ea typeface="Alike Bold"/>
                <a:cs typeface="Alike Bold"/>
                <a:sym typeface="Alike Bold"/>
              </a:rPr>
              <a:t>Impact of Plagiarism:</a:t>
            </a:r>
          </a:p>
          <a:p>
            <a:pPr marL="734059" lvl="1" indent="-367030" algn="just">
              <a:lnSpc>
                <a:spcPts val="4759"/>
              </a:lnSpc>
              <a:buAutoNum type="arabicPeriod"/>
            </a:pPr>
            <a:r>
              <a:rPr lang="en-US" sz="3399">
                <a:solidFill>
                  <a:srgbClr val="252930"/>
                </a:solidFill>
                <a:latin typeface="Alike"/>
                <a:ea typeface="Alike"/>
                <a:cs typeface="Alike"/>
                <a:sym typeface="Alike"/>
              </a:rPr>
              <a:t>Academic Consequences – Leads to failing grades, academic probation, or expulsion.</a:t>
            </a:r>
          </a:p>
          <a:p>
            <a:pPr marL="734059" lvl="1" indent="-367030" algn="just">
              <a:lnSpc>
                <a:spcPts val="4759"/>
              </a:lnSpc>
              <a:buAutoNum type="arabicPeriod"/>
            </a:pPr>
            <a:r>
              <a:rPr lang="en-US" sz="3399">
                <a:solidFill>
                  <a:srgbClr val="252930"/>
                </a:solidFill>
                <a:latin typeface="Alike"/>
                <a:ea typeface="Alike"/>
                <a:cs typeface="Alike"/>
                <a:sym typeface="Alike"/>
              </a:rPr>
              <a:t>Research Integrity Issues – Undermines trust in scholarly work and can result in paper retractions.</a:t>
            </a:r>
          </a:p>
          <a:p>
            <a:pPr algn="just">
              <a:lnSpc>
                <a:spcPts val="4759"/>
              </a:lnSpc>
            </a:pPr>
            <a:endParaRPr lang="en-US" sz="3399">
              <a:solidFill>
                <a:srgbClr val="252930"/>
              </a:solidFill>
              <a:latin typeface="Alike"/>
              <a:ea typeface="Alike"/>
              <a:cs typeface="Alike"/>
              <a:sym typeface="Alike"/>
            </a:endParaRPr>
          </a:p>
        </p:txBody>
      </p:sp>
      <p:sp>
        <p:nvSpPr>
          <p:cNvPr id="3" name="TextBox 3"/>
          <p:cNvSpPr txBox="1"/>
          <p:nvPr/>
        </p:nvSpPr>
        <p:spPr>
          <a:xfrm>
            <a:off x="2999625" y="2095429"/>
            <a:ext cx="12288749" cy="1047750"/>
          </a:xfrm>
          <a:prstGeom prst="rect">
            <a:avLst/>
          </a:prstGeom>
        </p:spPr>
        <p:txBody>
          <a:bodyPr lIns="0" tIns="0" rIns="0" bIns="0" rtlCol="0" anchor="t">
            <a:spAutoFit/>
          </a:bodyPr>
          <a:lstStyle/>
          <a:p>
            <a:pPr algn="ctr">
              <a:lnSpc>
                <a:spcPts val="7200"/>
              </a:lnSpc>
            </a:pPr>
            <a:r>
              <a:rPr lang="en-US" sz="9000" b="1">
                <a:solidFill>
                  <a:srgbClr val="252930"/>
                </a:solidFill>
                <a:latin typeface="Maven Pro Bold"/>
                <a:ea typeface="Maven Pro Bold"/>
                <a:cs typeface="Maven Pro Bold"/>
                <a:sym typeface="Maven Pro Bold"/>
              </a:rPr>
              <a:t>INTRODUCTION</a:t>
            </a:r>
          </a:p>
        </p:txBody>
      </p:sp>
      <p:sp>
        <p:nvSpPr>
          <p:cNvPr id="4" name="Freeform 4"/>
          <p:cNvSpPr/>
          <p:nvPr/>
        </p:nvSpPr>
        <p:spPr>
          <a:xfrm flipH="1">
            <a:off x="-211950" y="-104775"/>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1777365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14542983" y="9077308"/>
            <a:ext cx="2716317" cy="1358159"/>
          </a:xfrm>
          <a:custGeom>
            <a:avLst/>
            <a:gdLst/>
            <a:ahLst/>
            <a:cxnLst/>
            <a:rect l="l" t="t" r="r" b="b"/>
            <a:pathLst>
              <a:path w="2716317" h="1358159">
                <a:moveTo>
                  <a:pt x="0" y="0"/>
                </a:moveTo>
                <a:lnTo>
                  <a:pt x="2716317" y="0"/>
                </a:lnTo>
                <a:lnTo>
                  <a:pt x="2716317" y="1358159"/>
                </a:lnTo>
                <a:lnTo>
                  <a:pt x="0" y="135815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sp>
        <p:nvSpPr>
          <p:cNvPr id="2" name="Freeform 2"/>
          <p:cNvSpPr/>
          <p:nvPr/>
        </p:nvSpPr>
        <p:spPr>
          <a:xfrm>
            <a:off x="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4354175" y="-123825"/>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516220" y="1326846"/>
            <a:ext cx="5328258" cy="5328258"/>
          </a:xfrm>
          <a:custGeom>
            <a:avLst/>
            <a:gdLst/>
            <a:ahLst/>
            <a:cxnLst/>
            <a:rect l="l" t="t" r="r" b="b"/>
            <a:pathLst>
              <a:path w="5328258" h="5328258">
                <a:moveTo>
                  <a:pt x="0" y="0"/>
                </a:moveTo>
                <a:lnTo>
                  <a:pt x="5328259" y="0"/>
                </a:lnTo>
                <a:lnTo>
                  <a:pt x="5328259" y="5328258"/>
                </a:lnTo>
                <a:lnTo>
                  <a:pt x="0" y="5328258"/>
                </a:lnTo>
                <a:lnTo>
                  <a:pt x="0" y="0"/>
                </a:lnTo>
                <a:close/>
              </a:path>
            </a:pathLst>
          </a:custGeom>
          <a:blipFill>
            <a:blip r:embed="rId6"/>
            <a:stretch>
              <a:fillRect/>
            </a:stretch>
          </a:blipFill>
        </p:spPr>
      </p:sp>
      <p:sp>
        <p:nvSpPr>
          <p:cNvPr id="5" name="TextBox 5"/>
          <p:cNvSpPr txBox="1"/>
          <p:nvPr/>
        </p:nvSpPr>
        <p:spPr>
          <a:xfrm>
            <a:off x="7134994" y="947876"/>
            <a:ext cx="9039694" cy="1730376"/>
          </a:xfrm>
          <a:prstGeom prst="rect">
            <a:avLst/>
          </a:prstGeom>
        </p:spPr>
        <p:txBody>
          <a:bodyPr lIns="0" tIns="0" rIns="0" bIns="0" rtlCol="0" anchor="t">
            <a:spAutoFit/>
          </a:bodyPr>
          <a:lstStyle/>
          <a:p>
            <a:pPr algn="ctr">
              <a:lnSpc>
                <a:spcPts val="6400"/>
              </a:lnSpc>
            </a:pPr>
            <a:r>
              <a:rPr lang="en-US" sz="8000" b="1" dirty="0">
                <a:solidFill>
                  <a:srgbClr val="252930"/>
                </a:solidFill>
                <a:latin typeface="Maven Pro Bold"/>
                <a:ea typeface="Maven Pro Bold"/>
                <a:cs typeface="Maven Pro Bold"/>
                <a:sym typeface="Maven Pro Bold"/>
              </a:rPr>
              <a:t>WHY DETECT PLAGIARISM?</a:t>
            </a:r>
          </a:p>
        </p:txBody>
      </p:sp>
      <p:sp>
        <p:nvSpPr>
          <p:cNvPr id="6" name="TextBox 6"/>
          <p:cNvSpPr txBox="1"/>
          <p:nvPr/>
        </p:nvSpPr>
        <p:spPr>
          <a:xfrm>
            <a:off x="8191583" y="3383045"/>
            <a:ext cx="9067717" cy="1819779"/>
          </a:xfrm>
          <a:prstGeom prst="rect">
            <a:avLst/>
          </a:prstGeom>
        </p:spPr>
        <p:txBody>
          <a:bodyPr lIns="0" tIns="0" rIns="0" bIns="0" rtlCol="0" anchor="t">
            <a:spAutoFit/>
          </a:bodyPr>
          <a:lstStyle/>
          <a:p>
            <a:pPr marL="559021" lvl="1" indent="-279510" algn="just">
              <a:lnSpc>
                <a:spcPts val="3624"/>
              </a:lnSpc>
              <a:buFont typeface="Arial"/>
              <a:buChar char="•"/>
            </a:pPr>
            <a:r>
              <a:rPr lang="en-US" sz="2589">
                <a:solidFill>
                  <a:srgbClr val="252930"/>
                </a:solidFill>
                <a:latin typeface="Maven Pro"/>
                <a:ea typeface="Maven Pro"/>
                <a:cs typeface="Maven Pro"/>
                <a:sym typeface="Maven Pro"/>
              </a:rPr>
              <a:t>Detecting plagiarism is essential to maintain academic and professional integrity. It ensures originality, promotes ethical behavior, and upholds the credibility of research and education.</a:t>
            </a:r>
          </a:p>
        </p:txBody>
      </p:sp>
      <p:sp>
        <p:nvSpPr>
          <p:cNvPr id="7" name="TextBox 7"/>
          <p:cNvSpPr txBox="1"/>
          <p:nvPr/>
        </p:nvSpPr>
        <p:spPr>
          <a:xfrm>
            <a:off x="8657019" y="5619649"/>
            <a:ext cx="9067717" cy="3658508"/>
          </a:xfrm>
          <a:prstGeom prst="rect">
            <a:avLst/>
          </a:prstGeom>
        </p:spPr>
        <p:txBody>
          <a:bodyPr lIns="0" tIns="0" rIns="0" bIns="0" rtlCol="0" anchor="t">
            <a:spAutoFit/>
          </a:bodyPr>
          <a:lstStyle/>
          <a:p>
            <a:pPr algn="just">
              <a:lnSpc>
                <a:spcPts val="3624"/>
              </a:lnSpc>
            </a:pPr>
            <a:r>
              <a:rPr lang="en-US" sz="2589" b="1" u="sng">
                <a:solidFill>
                  <a:srgbClr val="252930"/>
                </a:solidFill>
                <a:latin typeface="Maven Pro Bold"/>
                <a:ea typeface="Maven Pro Bold"/>
                <a:cs typeface="Maven Pro Bold"/>
                <a:sym typeface="Maven Pro Bold"/>
              </a:rPr>
              <a:t>The Importance of Academic Integrity : </a:t>
            </a:r>
          </a:p>
          <a:p>
            <a:pPr marL="559020" lvl="1" indent="-279510" algn="just">
              <a:lnSpc>
                <a:spcPts val="3624"/>
              </a:lnSpc>
              <a:buFont typeface="Arial"/>
              <a:buChar char="•"/>
            </a:pPr>
            <a:r>
              <a:rPr lang="en-US" sz="2589">
                <a:solidFill>
                  <a:srgbClr val="252930"/>
                </a:solidFill>
                <a:latin typeface="Maven Pro"/>
                <a:ea typeface="Maven Pro"/>
                <a:cs typeface="Maven Pro"/>
                <a:sym typeface="Maven Pro"/>
              </a:rPr>
              <a:t>Preserves Educational Standards – Encourages independent thinking and fair evaluation.</a:t>
            </a:r>
          </a:p>
          <a:p>
            <a:pPr marL="559020" lvl="1" indent="-279510" algn="just">
              <a:lnSpc>
                <a:spcPts val="3624"/>
              </a:lnSpc>
              <a:buFont typeface="Arial"/>
              <a:buChar char="•"/>
            </a:pPr>
            <a:r>
              <a:rPr lang="en-US" sz="2589">
                <a:solidFill>
                  <a:srgbClr val="252930"/>
                </a:solidFill>
                <a:latin typeface="Maven Pro"/>
                <a:ea typeface="Maven Pro"/>
                <a:cs typeface="Maven Pro"/>
                <a:sym typeface="Maven Pro"/>
              </a:rPr>
              <a:t>Maintains Research Credibility – Ensures trust in scholarly work and prevents misinformation.</a:t>
            </a:r>
          </a:p>
          <a:p>
            <a:pPr marL="559020" lvl="1" indent="-279510" algn="just">
              <a:lnSpc>
                <a:spcPts val="3624"/>
              </a:lnSpc>
              <a:buFont typeface="Arial"/>
              <a:buChar char="•"/>
            </a:pPr>
            <a:r>
              <a:rPr lang="en-US" sz="2589">
                <a:solidFill>
                  <a:srgbClr val="252930"/>
                </a:solidFill>
                <a:latin typeface="Maven Pro"/>
                <a:ea typeface="Maven Pro"/>
                <a:cs typeface="Maven Pro"/>
                <a:sym typeface="Maven Pro"/>
              </a:rPr>
              <a:t>Prevents Legal and Ethical Violations – Avoids copyright infringement and professional misconduct.</a:t>
            </a:r>
          </a:p>
          <a:p>
            <a:pPr algn="just">
              <a:lnSpc>
                <a:spcPts val="3624"/>
              </a:lnSpc>
            </a:pPr>
            <a:endParaRPr lang="en-US" sz="2589">
              <a:solidFill>
                <a:srgbClr val="252930"/>
              </a:solidFill>
              <a:latin typeface="Maven Pro"/>
              <a:ea typeface="Maven Pro"/>
              <a:cs typeface="Maven Pro"/>
              <a:sym typeface="Maven Pro"/>
            </a:endParaRPr>
          </a:p>
        </p:txBody>
      </p:sp>
      <p:sp>
        <p:nvSpPr>
          <p:cNvPr id="8" name="TextBox 8"/>
          <p:cNvSpPr txBox="1"/>
          <p:nvPr/>
        </p:nvSpPr>
        <p:spPr>
          <a:xfrm>
            <a:off x="745652" y="7241283"/>
            <a:ext cx="5931283" cy="2896302"/>
          </a:xfrm>
          <a:prstGeom prst="rect">
            <a:avLst/>
          </a:prstGeom>
        </p:spPr>
        <p:txBody>
          <a:bodyPr lIns="0" tIns="0" rIns="0" bIns="0" rtlCol="0" anchor="t">
            <a:spAutoFit/>
          </a:bodyPr>
          <a:lstStyle/>
          <a:p>
            <a:pPr marL="395478" lvl="1" indent="-197739" algn="just">
              <a:lnSpc>
                <a:spcPts val="2564"/>
              </a:lnSpc>
              <a:buFont typeface="Arial"/>
              <a:buChar char="•"/>
            </a:pPr>
            <a:r>
              <a:rPr lang="en-US" sz="1831">
                <a:solidFill>
                  <a:srgbClr val="252930"/>
                </a:solidFill>
                <a:latin typeface="Maven Pro"/>
                <a:ea typeface="Maven Pro"/>
                <a:cs typeface="Maven Pro"/>
                <a:sym typeface="Maven Pro"/>
              </a:rPr>
              <a:t>Statistics on Plagiarism in Education</a:t>
            </a:r>
          </a:p>
          <a:p>
            <a:pPr marL="395478" lvl="1" indent="-197739" algn="just">
              <a:lnSpc>
                <a:spcPts val="2564"/>
              </a:lnSpc>
              <a:buFont typeface="Arial"/>
              <a:buChar char="•"/>
            </a:pPr>
            <a:r>
              <a:rPr lang="en-US" sz="1831">
                <a:solidFill>
                  <a:srgbClr val="252930"/>
                </a:solidFill>
                <a:latin typeface="Maven Pro"/>
                <a:ea typeface="Maven Pro"/>
                <a:cs typeface="Maven Pro"/>
                <a:sym typeface="Maven Pro"/>
              </a:rPr>
              <a:t>Around 58% of students admit to plagiarism at some point.</a:t>
            </a:r>
          </a:p>
          <a:p>
            <a:pPr marL="395478" lvl="1" indent="-197739" algn="just">
              <a:lnSpc>
                <a:spcPts val="2564"/>
              </a:lnSpc>
              <a:buFont typeface="Arial"/>
              <a:buChar char="•"/>
            </a:pPr>
            <a:r>
              <a:rPr lang="en-US" sz="1831">
                <a:solidFill>
                  <a:srgbClr val="252930"/>
                </a:solidFill>
                <a:latin typeface="Maven Pro"/>
                <a:ea typeface="Maven Pro"/>
                <a:cs typeface="Maven Pro"/>
                <a:sym typeface="Maven Pro"/>
              </a:rPr>
              <a:t>36% of undergraduates have copied text without citation.</a:t>
            </a:r>
          </a:p>
          <a:p>
            <a:pPr marL="395478" lvl="1" indent="-197739" algn="just">
              <a:lnSpc>
                <a:spcPts val="2564"/>
              </a:lnSpc>
              <a:buFont typeface="Arial"/>
              <a:buChar char="•"/>
            </a:pPr>
            <a:r>
              <a:rPr lang="en-US" sz="1831">
                <a:solidFill>
                  <a:srgbClr val="252930"/>
                </a:solidFill>
                <a:latin typeface="Maven Pro"/>
                <a:ea typeface="Maven Pro"/>
                <a:cs typeface="Maven Pro"/>
                <a:sym typeface="Maven Pro"/>
              </a:rPr>
              <a:t>17% of research papers submitted contain some form of plagiarism.</a:t>
            </a:r>
          </a:p>
          <a:p>
            <a:pPr marL="395478" lvl="1" indent="-197739" algn="just">
              <a:lnSpc>
                <a:spcPts val="2564"/>
              </a:lnSpc>
              <a:buFont typeface="Arial"/>
              <a:buChar char="•"/>
            </a:pPr>
            <a:r>
              <a:rPr lang="en-US" sz="1831">
                <a:solidFill>
                  <a:srgbClr val="252930"/>
                </a:solidFill>
                <a:latin typeface="Maven Pro"/>
                <a:ea typeface="Maven Pro"/>
                <a:cs typeface="Maven Pro"/>
                <a:sym typeface="Maven Pro"/>
              </a:rPr>
              <a:t>More than 50% of instructors use plagiarism detection tools.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sp>
        <p:nvSpPr>
          <p:cNvPr id="2" name="Freeform 2"/>
          <p:cNvSpPr/>
          <p:nvPr/>
        </p:nvSpPr>
        <p:spPr>
          <a:xfrm flipH="1">
            <a:off x="-211950" y="-104775"/>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777365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5031144" y="734348"/>
            <a:ext cx="11614129" cy="1730376"/>
          </a:xfrm>
          <a:prstGeom prst="rect">
            <a:avLst/>
          </a:prstGeom>
        </p:spPr>
        <p:txBody>
          <a:bodyPr lIns="0" tIns="0" rIns="0" bIns="0" rtlCol="0" anchor="t">
            <a:spAutoFit/>
          </a:bodyPr>
          <a:lstStyle/>
          <a:p>
            <a:pPr algn="ctr">
              <a:lnSpc>
                <a:spcPts val="6400"/>
              </a:lnSpc>
            </a:pPr>
            <a:r>
              <a:rPr lang="en-US" sz="8000" b="1" dirty="0">
                <a:solidFill>
                  <a:srgbClr val="252D37"/>
                </a:solidFill>
                <a:latin typeface="Maven Pro Bold"/>
                <a:ea typeface="Maven Pro Bold"/>
                <a:cs typeface="Maven Pro Bold"/>
                <a:sym typeface="Maven Pro Bold"/>
              </a:rPr>
              <a:t>EXISTING METHODS VS. KMP ALGORITHM</a:t>
            </a:r>
          </a:p>
        </p:txBody>
      </p:sp>
      <p:sp>
        <p:nvSpPr>
          <p:cNvPr id="5" name="TextBox 5"/>
          <p:cNvSpPr txBox="1"/>
          <p:nvPr/>
        </p:nvSpPr>
        <p:spPr>
          <a:xfrm>
            <a:off x="8822184" y="2862291"/>
            <a:ext cx="8951466" cy="3778206"/>
          </a:xfrm>
          <a:prstGeom prst="rect">
            <a:avLst/>
          </a:prstGeom>
        </p:spPr>
        <p:txBody>
          <a:bodyPr lIns="0" tIns="0" rIns="0" bIns="0" rtlCol="0" anchor="t">
            <a:spAutoFit/>
          </a:bodyPr>
          <a:lstStyle/>
          <a:p>
            <a:pPr algn="just">
              <a:lnSpc>
                <a:spcPts val="3327"/>
              </a:lnSpc>
            </a:pPr>
            <a:r>
              <a:rPr lang="en-US" sz="2376" b="1" u="sng">
                <a:solidFill>
                  <a:srgbClr val="252D37"/>
                </a:solidFill>
                <a:latin typeface="Maven Pro Bold"/>
                <a:ea typeface="Maven Pro Bold"/>
                <a:cs typeface="Maven Pro Bold"/>
                <a:sym typeface="Maven Pro Bold"/>
              </a:rPr>
              <a:t>Traditional Methods for Plagiarism Detection: </a:t>
            </a:r>
          </a:p>
          <a:p>
            <a:pPr marL="513137" lvl="1" indent="-256569" algn="just">
              <a:lnSpc>
                <a:spcPts val="3327"/>
              </a:lnSpc>
              <a:buFont typeface="Arial"/>
              <a:buChar char="•"/>
            </a:pPr>
            <a:r>
              <a:rPr lang="en-US" sz="2376">
                <a:solidFill>
                  <a:srgbClr val="252D37"/>
                </a:solidFill>
                <a:latin typeface="Maven Pro"/>
                <a:ea typeface="Maven Pro"/>
                <a:cs typeface="Maven Pro"/>
                <a:sym typeface="Maven Pro"/>
              </a:rPr>
              <a:t>Brute Force Method</a:t>
            </a:r>
          </a:p>
          <a:p>
            <a:pPr marL="513137" lvl="1" indent="-256569" algn="just">
              <a:lnSpc>
                <a:spcPts val="3327"/>
              </a:lnSpc>
              <a:buFont typeface="Arial"/>
              <a:buChar char="•"/>
            </a:pPr>
            <a:r>
              <a:rPr lang="en-US" sz="2376">
                <a:solidFill>
                  <a:srgbClr val="252D37"/>
                </a:solidFill>
                <a:latin typeface="Maven Pro"/>
                <a:ea typeface="Maven Pro"/>
                <a:cs typeface="Maven Pro"/>
                <a:sym typeface="Maven Pro"/>
              </a:rPr>
              <a:t>Compares every substring of the source text with the target text.</a:t>
            </a:r>
          </a:p>
          <a:p>
            <a:pPr marL="513137" lvl="1" indent="-256569" algn="just">
              <a:lnSpc>
                <a:spcPts val="3327"/>
              </a:lnSpc>
              <a:buFont typeface="Arial"/>
              <a:buChar char="•"/>
            </a:pPr>
            <a:r>
              <a:rPr lang="en-US" sz="2376">
                <a:solidFill>
                  <a:srgbClr val="252D37"/>
                </a:solidFill>
                <a:latin typeface="Maven Pro"/>
                <a:ea typeface="Maven Pro"/>
                <a:cs typeface="Maven Pro"/>
                <a:sym typeface="Maven Pro"/>
              </a:rPr>
              <a:t>Time Complexity: O(n × m) (slow for large texts).</a:t>
            </a:r>
          </a:p>
          <a:p>
            <a:pPr algn="just">
              <a:lnSpc>
                <a:spcPts val="3327"/>
              </a:lnSpc>
            </a:pPr>
            <a:endParaRPr lang="en-US" sz="2376">
              <a:solidFill>
                <a:srgbClr val="252D37"/>
              </a:solidFill>
              <a:latin typeface="Maven Pro"/>
              <a:ea typeface="Maven Pro"/>
              <a:cs typeface="Maven Pro"/>
              <a:sym typeface="Maven Pro"/>
            </a:endParaRPr>
          </a:p>
          <a:p>
            <a:pPr algn="just">
              <a:lnSpc>
                <a:spcPts val="3327"/>
              </a:lnSpc>
            </a:pPr>
            <a:r>
              <a:rPr lang="en-US" sz="2376" b="1" u="sng">
                <a:solidFill>
                  <a:srgbClr val="252D37"/>
                </a:solidFill>
                <a:latin typeface="Maven Pro Bold"/>
                <a:ea typeface="Maven Pro Bold"/>
                <a:cs typeface="Maven Pro Bold"/>
                <a:sym typeface="Maven Pro Bold"/>
              </a:rPr>
              <a:t>Hashing-Based Method:</a:t>
            </a:r>
          </a:p>
          <a:p>
            <a:pPr marL="513137" lvl="1" indent="-256569" algn="just">
              <a:lnSpc>
                <a:spcPts val="3327"/>
              </a:lnSpc>
              <a:buFont typeface="Arial"/>
              <a:buChar char="•"/>
            </a:pPr>
            <a:r>
              <a:rPr lang="en-US" sz="2376">
                <a:solidFill>
                  <a:srgbClr val="252D37"/>
                </a:solidFill>
                <a:latin typeface="Maven Pro"/>
                <a:ea typeface="Maven Pro"/>
                <a:cs typeface="Maven Pro"/>
                <a:sym typeface="Maven Pro"/>
              </a:rPr>
              <a:t>Converts substrings into hash values and compares them.</a:t>
            </a:r>
          </a:p>
          <a:p>
            <a:pPr marL="513137" lvl="1" indent="-256569" algn="just">
              <a:lnSpc>
                <a:spcPts val="3327"/>
              </a:lnSpc>
              <a:buFont typeface="Arial"/>
              <a:buChar char="•"/>
            </a:pPr>
            <a:r>
              <a:rPr lang="en-US" sz="2376">
                <a:solidFill>
                  <a:srgbClr val="252D37"/>
                </a:solidFill>
                <a:latin typeface="Maven Pro"/>
                <a:ea typeface="Maven Pro"/>
                <a:cs typeface="Maven Pro"/>
                <a:sym typeface="Maven Pro"/>
              </a:rPr>
              <a:t>Time Complexity: O(n) (but high space usage).</a:t>
            </a:r>
          </a:p>
        </p:txBody>
      </p:sp>
      <p:sp>
        <p:nvSpPr>
          <p:cNvPr id="6" name="TextBox 6"/>
          <p:cNvSpPr txBox="1"/>
          <p:nvPr/>
        </p:nvSpPr>
        <p:spPr>
          <a:xfrm>
            <a:off x="8822184" y="7050072"/>
            <a:ext cx="8380605" cy="2734306"/>
          </a:xfrm>
          <a:prstGeom prst="rect">
            <a:avLst/>
          </a:prstGeom>
        </p:spPr>
        <p:txBody>
          <a:bodyPr lIns="0" tIns="0" rIns="0" bIns="0" rtlCol="0" anchor="t">
            <a:spAutoFit/>
          </a:bodyPr>
          <a:lstStyle/>
          <a:p>
            <a:pPr algn="just">
              <a:lnSpc>
                <a:spcPts val="3115"/>
              </a:lnSpc>
            </a:pPr>
            <a:r>
              <a:rPr lang="en-US" sz="2225" b="1" u="sng">
                <a:solidFill>
                  <a:srgbClr val="252D37"/>
                </a:solidFill>
                <a:latin typeface="Maven Pro Bold"/>
                <a:ea typeface="Maven Pro Bold"/>
                <a:cs typeface="Maven Pro Bold"/>
                <a:sym typeface="Maven Pro Bold"/>
              </a:rPr>
              <a:t>Why KMP Algorithm for Plagiarism Detection?</a:t>
            </a:r>
          </a:p>
          <a:p>
            <a:pPr marL="480414" lvl="1" indent="-240207" algn="just">
              <a:lnSpc>
                <a:spcPts val="3115"/>
              </a:lnSpc>
              <a:buFont typeface="Arial"/>
              <a:buChar char="•"/>
            </a:pPr>
            <a:r>
              <a:rPr lang="en-US" sz="2225">
                <a:solidFill>
                  <a:srgbClr val="252D37"/>
                </a:solidFill>
                <a:latin typeface="Maven Pro"/>
                <a:ea typeface="Maven Pro"/>
                <a:cs typeface="Maven Pro"/>
                <a:sym typeface="Maven Pro"/>
              </a:rPr>
              <a:t>Efficient String Matching: Works in O(n + m) time, making it faster than brute force.</a:t>
            </a:r>
          </a:p>
          <a:p>
            <a:pPr marL="480414" lvl="1" indent="-240207" algn="just">
              <a:lnSpc>
                <a:spcPts val="3115"/>
              </a:lnSpc>
              <a:buFont typeface="Arial"/>
              <a:buChar char="•"/>
            </a:pPr>
            <a:r>
              <a:rPr lang="en-US" sz="2225">
                <a:solidFill>
                  <a:srgbClr val="252D37"/>
                </a:solidFill>
                <a:latin typeface="Maven Pro"/>
                <a:ea typeface="Maven Pro"/>
                <a:cs typeface="Maven Pro"/>
                <a:sym typeface="Maven Pro"/>
              </a:rPr>
              <a:t>Pattern Preprocessing: Avoids unnecessary comparisons, improving performance.</a:t>
            </a:r>
          </a:p>
          <a:p>
            <a:pPr marL="480414" lvl="1" indent="-240207" algn="just">
              <a:lnSpc>
                <a:spcPts val="3115"/>
              </a:lnSpc>
              <a:buFont typeface="Arial"/>
              <a:buChar char="•"/>
            </a:pPr>
            <a:r>
              <a:rPr lang="en-US" sz="2225">
                <a:solidFill>
                  <a:srgbClr val="252D37"/>
                </a:solidFill>
                <a:latin typeface="Maven Pro"/>
                <a:ea typeface="Maven Pro"/>
                <a:cs typeface="Maven Pro"/>
                <a:sym typeface="Maven Pro"/>
              </a:rPr>
              <a:t>Lower Space Complexity: Uses only extra O(m) space for preprocessing.</a:t>
            </a:r>
          </a:p>
        </p:txBody>
      </p:sp>
      <p:graphicFrame>
        <p:nvGraphicFramePr>
          <p:cNvPr id="9" name="Table 8">
            <a:extLst>
              <a:ext uri="{FF2B5EF4-FFF2-40B4-BE49-F238E27FC236}">
                <a16:creationId xmlns:a16="http://schemas.microsoft.com/office/drawing/2014/main" id="{055C2468-9540-D9A3-D801-9D78DD36E96A}"/>
              </a:ext>
            </a:extLst>
          </p:cNvPr>
          <p:cNvGraphicFramePr>
            <a:graphicFrameLocks noGrp="1"/>
          </p:cNvGraphicFramePr>
          <p:nvPr>
            <p:extLst>
              <p:ext uri="{D42A27DB-BD31-4B8C-83A1-F6EECF244321}">
                <p14:modId xmlns:p14="http://schemas.microsoft.com/office/powerpoint/2010/main" val="3991342098"/>
              </p:ext>
            </p:extLst>
          </p:nvPr>
        </p:nvGraphicFramePr>
        <p:xfrm>
          <a:off x="0" y="2834794"/>
          <a:ext cx="8665304" cy="6717858"/>
        </p:xfrm>
        <a:graphic>
          <a:graphicData uri="http://schemas.openxmlformats.org/drawingml/2006/table">
            <a:tbl>
              <a:tblPr firstRow="1" bandRow="1">
                <a:tableStyleId>{93296810-A885-4BE3-A3E7-6D5BEEA58F35}</a:tableStyleId>
              </a:tblPr>
              <a:tblGrid>
                <a:gridCol w="2166326">
                  <a:extLst>
                    <a:ext uri="{9D8B030D-6E8A-4147-A177-3AD203B41FA5}">
                      <a16:colId xmlns:a16="http://schemas.microsoft.com/office/drawing/2014/main" val="653662938"/>
                    </a:ext>
                  </a:extLst>
                </a:gridCol>
                <a:gridCol w="2166326">
                  <a:extLst>
                    <a:ext uri="{9D8B030D-6E8A-4147-A177-3AD203B41FA5}">
                      <a16:colId xmlns:a16="http://schemas.microsoft.com/office/drawing/2014/main" val="4188665015"/>
                    </a:ext>
                  </a:extLst>
                </a:gridCol>
                <a:gridCol w="2166326">
                  <a:extLst>
                    <a:ext uri="{9D8B030D-6E8A-4147-A177-3AD203B41FA5}">
                      <a16:colId xmlns:a16="http://schemas.microsoft.com/office/drawing/2014/main" val="1419243813"/>
                    </a:ext>
                  </a:extLst>
                </a:gridCol>
                <a:gridCol w="2166326">
                  <a:extLst>
                    <a:ext uri="{9D8B030D-6E8A-4147-A177-3AD203B41FA5}">
                      <a16:colId xmlns:a16="http://schemas.microsoft.com/office/drawing/2014/main" val="1112687724"/>
                    </a:ext>
                  </a:extLst>
                </a:gridCol>
              </a:tblGrid>
              <a:tr h="1098550">
                <a:tc>
                  <a:txBody>
                    <a:bodyPr/>
                    <a:lstStyle/>
                    <a:p>
                      <a:pPr algn="ctr">
                        <a:lnSpc>
                          <a:spcPct val="250000"/>
                        </a:lnSpc>
                      </a:pPr>
                      <a:r>
                        <a:rPr lang="en-US" sz="2000" dirty="0">
                          <a:solidFill>
                            <a:schemeClr val="tx1"/>
                          </a:solidFill>
                          <a:latin typeface="Arial Black" panose="020B0A04020102020204" pitchFamily="34" charset="0"/>
                        </a:rPr>
                        <a:t>Method</a:t>
                      </a:r>
                      <a:endParaRPr lang="en-IN" sz="2000" dirty="0">
                        <a:solidFill>
                          <a:schemeClr val="tx1"/>
                        </a:solidFill>
                        <a:latin typeface="Arial Black" panose="020B0A04020102020204" pitchFamily="34" charset="0"/>
                      </a:endParaRPr>
                    </a:p>
                  </a:txBody>
                  <a:tcPr/>
                </a:tc>
                <a:tc>
                  <a:txBody>
                    <a:bodyPr/>
                    <a:lstStyle/>
                    <a:p>
                      <a:pPr algn="ctr"/>
                      <a:r>
                        <a:rPr lang="en-US" sz="2000" dirty="0">
                          <a:solidFill>
                            <a:schemeClr val="tx1"/>
                          </a:solidFill>
                          <a:latin typeface="Arial Black" panose="020B0A04020102020204" pitchFamily="34" charset="0"/>
                        </a:rPr>
                        <a:t>Best Case complexity</a:t>
                      </a:r>
                      <a:endParaRPr lang="en-IN" sz="2000" dirty="0">
                        <a:solidFill>
                          <a:schemeClr val="tx1"/>
                        </a:solidFill>
                        <a:latin typeface="Arial Black" panose="020B0A04020102020204" pitchFamily="34" charset="0"/>
                      </a:endParaRPr>
                    </a:p>
                  </a:txBody>
                  <a:tcPr anchor="ctr"/>
                </a:tc>
                <a:tc>
                  <a:txBody>
                    <a:bodyPr/>
                    <a:lstStyle/>
                    <a:p>
                      <a:pPr algn="ctr"/>
                      <a:r>
                        <a:rPr lang="en-US" sz="2000" dirty="0">
                          <a:solidFill>
                            <a:schemeClr val="tx1"/>
                          </a:solidFill>
                          <a:latin typeface="Arial Black" panose="020B0A04020102020204" pitchFamily="34" charset="0"/>
                        </a:rPr>
                        <a:t>Worst case complexity</a:t>
                      </a:r>
                      <a:endParaRPr lang="en-IN" sz="2000" dirty="0">
                        <a:solidFill>
                          <a:schemeClr val="tx1"/>
                        </a:solidFill>
                        <a:latin typeface="Arial Black" panose="020B0A04020102020204" pitchFamily="34" charset="0"/>
                      </a:endParaRPr>
                    </a:p>
                  </a:txBody>
                  <a:tcPr anchor="ctr"/>
                </a:tc>
                <a:tc>
                  <a:txBody>
                    <a:bodyPr/>
                    <a:lstStyle/>
                    <a:p>
                      <a:pPr algn="ctr"/>
                      <a:r>
                        <a:rPr lang="en-US" sz="2000" dirty="0">
                          <a:solidFill>
                            <a:schemeClr val="tx1"/>
                          </a:solidFill>
                          <a:latin typeface="Arial Black" panose="020B0A04020102020204" pitchFamily="34" charset="0"/>
                        </a:rPr>
                        <a:t>notes</a:t>
                      </a:r>
                      <a:endParaRPr lang="en-IN" sz="2000" dirty="0">
                        <a:solidFill>
                          <a:schemeClr val="tx1"/>
                        </a:solidFill>
                        <a:latin typeface="Arial Black" panose="020B0A04020102020204" pitchFamily="34" charset="0"/>
                      </a:endParaRPr>
                    </a:p>
                  </a:txBody>
                  <a:tcPr anchor="ctr"/>
                </a:tc>
                <a:extLst>
                  <a:ext uri="{0D108BD9-81ED-4DB2-BD59-A6C34878D82A}">
                    <a16:rowId xmlns:a16="http://schemas.microsoft.com/office/drawing/2014/main" val="2197526133"/>
                  </a:ext>
                </a:extLst>
              </a:tr>
              <a:tr h="1098550">
                <a:tc>
                  <a:txBody>
                    <a:bodyPr/>
                    <a:lstStyle/>
                    <a:p>
                      <a:pPr algn="ctr"/>
                      <a:r>
                        <a:rPr lang="en-IN" dirty="0">
                          <a:latin typeface="Arial Black" panose="020B0A04020102020204" pitchFamily="34" charset="0"/>
                        </a:rPr>
                        <a:t>Brute Force</a:t>
                      </a:r>
                      <a:endParaRPr lang="en-IN" sz="1800" dirty="0">
                        <a:latin typeface="Arial Black" panose="020B0A04020102020204" pitchFamily="34" charset="0"/>
                      </a:endParaRPr>
                    </a:p>
                  </a:txBody>
                  <a:tcPr anchor="ctr"/>
                </a:tc>
                <a:tc>
                  <a:txBody>
                    <a:bodyPr/>
                    <a:lstStyle/>
                    <a:p>
                      <a:pPr algn="ctr"/>
                      <a:r>
                        <a:rPr lang="en-IN" dirty="0">
                          <a:latin typeface="Arial Black" panose="020B0A04020102020204" pitchFamily="34" charset="0"/>
                        </a:rPr>
                        <a:t>O(n × m)</a:t>
                      </a:r>
                    </a:p>
                  </a:txBody>
                  <a:tcPr anchor="ctr"/>
                </a:tc>
                <a:tc>
                  <a:txBody>
                    <a:bodyPr/>
                    <a:lstStyle/>
                    <a:p>
                      <a:pPr algn="ctr"/>
                      <a:r>
                        <a:rPr lang="en-IN" dirty="0">
                          <a:latin typeface="Arial Black" panose="020B0A04020102020204" pitchFamily="34" charset="0"/>
                        </a:rPr>
                        <a:t>O(n × m)</a:t>
                      </a:r>
                    </a:p>
                  </a:txBody>
                  <a:tcPr anchor="ctr"/>
                </a:tc>
                <a:tc>
                  <a:txBody>
                    <a:bodyPr/>
                    <a:lstStyle/>
                    <a:p>
                      <a:pPr algn="ctr"/>
                      <a:r>
                        <a:rPr lang="en-US" dirty="0">
                          <a:latin typeface="Arial Black" panose="020B0A04020102020204" pitchFamily="34" charset="0"/>
                        </a:rPr>
                        <a:t>Simple but slow for large texts</a:t>
                      </a:r>
                      <a:endParaRPr lang="en-IN" dirty="0">
                        <a:latin typeface="Arial Black" panose="020B0A04020102020204" pitchFamily="34" charset="0"/>
                      </a:endParaRPr>
                    </a:p>
                  </a:txBody>
                  <a:tcPr anchor="ctr"/>
                </a:tc>
                <a:extLst>
                  <a:ext uri="{0D108BD9-81ED-4DB2-BD59-A6C34878D82A}">
                    <a16:rowId xmlns:a16="http://schemas.microsoft.com/office/drawing/2014/main" val="717968305"/>
                  </a:ext>
                </a:extLst>
              </a:tr>
              <a:tr h="1098550">
                <a:tc>
                  <a:txBody>
                    <a:bodyPr/>
                    <a:lstStyle/>
                    <a:p>
                      <a:pPr algn="ctr"/>
                      <a:r>
                        <a:rPr lang="en-IN" b="1" dirty="0">
                          <a:latin typeface="Arial Black" panose="020B0A04020102020204" pitchFamily="34" charset="0"/>
                        </a:rPr>
                        <a:t>Hashing</a:t>
                      </a:r>
                      <a:endParaRPr lang="en-IN" dirty="0">
                        <a:latin typeface="Arial Black" panose="020B0A04020102020204" pitchFamily="34" charset="0"/>
                      </a:endParaRPr>
                    </a:p>
                  </a:txBody>
                  <a:tcPr anchor="ctr"/>
                </a:tc>
                <a:tc>
                  <a:txBody>
                    <a:bodyPr/>
                    <a:lstStyle/>
                    <a:p>
                      <a:pPr algn="ctr"/>
                      <a:r>
                        <a:rPr lang="en-IN" dirty="0">
                          <a:latin typeface="Arial Black" panose="020B0A04020102020204" pitchFamily="34" charset="0"/>
                        </a:rPr>
                        <a:t>O(n)</a:t>
                      </a:r>
                    </a:p>
                  </a:txBody>
                  <a:tcPr anchor="ctr"/>
                </a:tc>
                <a:tc>
                  <a:txBody>
                    <a:bodyPr/>
                    <a:lstStyle/>
                    <a:p>
                      <a:pPr algn="ctr"/>
                      <a:r>
                        <a:rPr lang="en-IN" dirty="0">
                          <a:latin typeface="Arial Black" panose="020B0A04020102020204" pitchFamily="34" charset="0"/>
                        </a:rPr>
                        <a:t>O(n)</a:t>
                      </a:r>
                    </a:p>
                  </a:txBody>
                  <a:tcPr anchor="ctr"/>
                </a:tc>
                <a:tc>
                  <a:txBody>
                    <a:bodyPr/>
                    <a:lstStyle/>
                    <a:p>
                      <a:pPr algn="ctr"/>
                      <a:r>
                        <a:rPr lang="en-US" dirty="0">
                          <a:latin typeface="Arial Black" panose="020B0A04020102020204" pitchFamily="34" charset="0"/>
                        </a:rPr>
                        <a:t>Efficient but requires extra space</a:t>
                      </a:r>
                    </a:p>
                  </a:txBody>
                  <a:tcPr anchor="ctr"/>
                </a:tc>
                <a:extLst>
                  <a:ext uri="{0D108BD9-81ED-4DB2-BD59-A6C34878D82A}">
                    <a16:rowId xmlns:a16="http://schemas.microsoft.com/office/drawing/2014/main" val="1365414875"/>
                  </a:ext>
                </a:extLst>
              </a:tr>
              <a:tr h="1098550">
                <a:tc>
                  <a:txBody>
                    <a:bodyPr/>
                    <a:lstStyle/>
                    <a:p>
                      <a:pPr algn="ctr"/>
                      <a:r>
                        <a:rPr lang="en-IN" b="1" dirty="0">
                          <a:latin typeface="Arial Black" panose="020B0A04020102020204" pitchFamily="34" charset="0"/>
                        </a:rPr>
                        <a:t>KMP</a:t>
                      </a:r>
                      <a:r>
                        <a:rPr lang="en-IN" b="1" dirty="0"/>
                        <a:t> </a:t>
                      </a:r>
                      <a:r>
                        <a:rPr lang="en-IN" b="1" dirty="0">
                          <a:latin typeface="Arial Black" panose="020B0A04020102020204" pitchFamily="34" charset="0"/>
                        </a:rPr>
                        <a:t>Algorithm</a:t>
                      </a:r>
                      <a:endParaRPr lang="en-IN" dirty="0">
                        <a:latin typeface="Arial Black" panose="020B0A04020102020204" pitchFamily="34" charset="0"/>
                      </a:endParaRPr>
                    </a:p>
                  </a:txBody>
                  <a:tcPr anchor="ctr"/>
                </a:tc>
                <a:tc>
                  <a:txBody>
                    <a:bodyPr/>
                    <a:lstStyle/>
                    <a:p>
                      <a:pPr algn="ctr"/>
                      <a:r>
                        <a:rPr lang="en-IN" dirty="0">
                          <a:latin typeface="Arial Black" panose="020B0A04020102020204" pitchFamily="34" charset="0"/>
                        </a:rPr>
                        <a:t>O(n + m)</a:t>
                      </a:r>
                    </a:p>
                  </a:txBody>
                  <a:tcPr anchor="ctr"/>
                </a:tc>
                <a:tc>
                  <a:txBody>
                    <a:bodyPr/>
                    <a:lstStyle/>
                    <a:p>
                      <a:pPr algn="ctr"/>
                      <a:r>
                        <a:rPr lang="en-IN" dirty="0">
                          <a:latin typeface="Arial Black" panose="020B0A04020102020204" pitchFamily="34" charset="0"/>
                        </a:rPr>
                        <a:t>O(n + m)</a:t>
                      </a:r>
                    </a:p>
                  </a:txBody>
                  <a:tcPr anchor="ctr"/>
                </a:tc>
                <a:tc>
                  <a:txBody>
                    <a:bodyPr/>
                    <a:lstStyle/>
                    <a:p>
                      <a:pPr algn="ctr"/>
                      <a:r>
                        <a:rPr lang="en-IN" dirty="0">
                          <a:latin typeface="Arial Black" panose="020B0A04020102020204" pitchFamily="34" charset="0"/>
                        </a:rPr>
                        <a:t>Efficient with preprocessing</a:t>
                      </a:r>
                    </a:p>
                  </a:txBody>
                  <a:tcPr anchor="ctr"/>
                </a:tc>
                <a:extLst>
                  <a:ext uri="{0D108BD9-81ED-4DB2-BD59-A6C34878D82A}">
                    <a16:rowId xmlns:a16="http://schemas.microsoft.com/office/drawing/2014/main" val="4050082606"/>
                  </a:ext>
                </a:extLst>
              </a:tr>
              <a:tr h="1098550">
                <a:tc>
                  <a:txBody>
                    <a:bodyPr/>
                    <a:lstStyle/>
                    <a:p>
                      <a:pPr algn="ctr"/>
                      <a:r>
                        <a:rPr lang="en-IN" b="1" dirty="0">
                          <a:latin typeface="Arial Black" panose="020B0A04020102020204" pitchFamily="34" charset="0"/>
                        </a:rPr>
                        <a:t>Rabin-Karp</a:t>
                      </a:r>
                      <a:endParaRPr lang="en-IN" dirty="0">
                        <a:latin typeface="Arial Black" panose="020B0A04020102020204" pitchFamily="34" charset="0"/>
                      </a:endParaRPr>
                    </a:p>
                  </a:txBody>
                  <a:tcPr anchor="ctr"/>
                </a:tc>
                <a:tc>
                  <a:txBody>
                    <a:bodyPr/>
                    <a:lstStyle/>
                    <a:p>
                      <a:pPr algn="ctr"/>
                      <a:r>
                        <a:rPr lang="en-IN" dirty="0">
                          <a:latin typeface="Arial Black" panose="020B0A04020102020204" pitchFamily="34" charset="0"/>
                        </a:rPr>
                        <a:t>O(n) (if no collisions)</a:t>
                      </a:r>
                    </a:p>
                  </a:txBody>
                  <a:tcPr anchor="ctr"/>
                </a:tc>
                <a:tc>
                  <a:txBody>
                    <a:bodyPr/>
                    <a:lstStyle/>
                    <a:p>
                      <a:pPr algn="ctr"/>
                      <a:r>
                        <a:rPr lang="en-US" dirty="0">
                          <a:latin typeface="Arial Black" panose="020B0A04020102020204" pitchFamily="34" charset="0"/>
                        </a:rPr>
                        <a:t>O(n × m) (with hash collisions)</a:t>
                      </a:r>
                    </a:p>
                  </a:txBody>
                  <a:tcPr anchor="ctr"/>
                </a:tc>
                <a:tc>
                  <a:txBody>
                    <a:bodyPr/>
                    <a:lstStyle/>
                    <a:p>
                      <a:pPr algn="ctr"/>
                      <a:r>
                        <a:rPr lang="en-US" dirty="0">
                          <a:latin typeface="Arial Black" panose="020B0A04020102020204" pitchFamily="34" charset="0"/>
                        </a:rPr>
                        <a:t>Uses hashing for quick comparisons</a:t>
                      </a:r>
                    </a:p>
                  </a:txBody>
                  <a:tcPr anchor="ctr"/>
                </a:tc>
                <a:extLst>
                  <a:ext uri="{0D108BD9-81ED-4DB2-BD59-A6C34878D82A}">
                    <a16:rowId xmlns:a16="http://schemas.microsoft.com/office/drawing/2014/main" val="3377932384"/>
                  </a:ext>
                </a:extLst>
              </a:tr>
              <a:tr h="1225108">
                <a:tc>
                  <a:txBody>
                    <a:bodyPr/>
                    <a:lstStyle/>
                    <a:p>
                      <a:pPr algn="ctr"/>
                      <a:r>
                        <a:rPr lang="en-IN" b="1" dirty="0">
                          <a:latin typeface="Arial Black" panose="020B0A04020102020204" pitchFamily="34" charset="0"/>
                        </a:rPr>
                        <a:t>Boyer-Moore</a:t>
                      </a:r>
                      <a:endParaRPr lang="en-IN" dirty="0">
                        <a:latin typeface="Arial Black" panose="020B0A04020102020204" pitchFamily="34" charset="0"/>
                      </a:endParaRPr>
                    </a:p>
                  </a:txBody>
                  <a:tcPr anchor="ctr"/>
                </a:tc>
                <a:tc>
                  <a:txBody>
                    <a:bodyPr/>
                    <a:lstStyle/>
                    <a:p>
                      <a:pPr algn="ctr"/>
                      <a:r>
                        <a:rPr lang="en-US" dirty="0">
                          <a:latin typeface="Arial Black" panose="020B0A04020102020204" pitchFamily="34" charset="0"/>
                        </a:rPr>
                        <a:t>O(n/m) (best case)</a:t>
                      </a:r>
                    </a:p>
                  </a:txBody>
                  <a:tcPr anchor="ctr"/>
                </a:tc>
                <a:tc>
                  <a:txBody>
                    <a:bodyPr/>
                    <a:lstStyle/>
                    <a:p>
                      <a:pPr algn="ctr"/>
                      <a:r>
                        <a:rPr lang="en-IN" dirty="0">
                          <a:latin typeface="Arial Black" panose="020B0A04020102020204" pitchFamily="34" charset="0"/>
                        </a:rPr>
                        <a:t>O(n × m)</a:t>
                      </a:r>
                    </a:p>
                  </a:txBody>
                  <a:tcPr anchor="ctr"/>
                </a:tc>
                <a:tc>
                  <a:txBody>
                    <a:bodyPr/>
                    <a:lstStyle/>
                    <a:p>
                      <a:pPr algn="ctr"/>
                      <a:r>
                        <a:rPr lang="en-US" dirty="0">
                          <a:latin typeface="Arial Black" panose="020B0A04020102020204" pitchFamily="34" charset="0"/>
                        </a:rPr>
                        <a:t>Efficient for long patterns in large texts</a:t>
                      </a:r>
                    </a:p>
                  </a:txBody>
                  <a:tcPr anchor="ctr"/>
                </a:tc>
                <a:extLst>
                  <a:ext uri="{0D108BD9-81ED-4DB2-BD59-A6C34878D82A}">
                    <a16:rowId xmlns:a16="http://schemas.microsoft.com/office/drawing/2014/main" val="265208912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sp>
        <p:nvSpPr>
          <p:cNvPr id="2" name="TextBox 2"/>
          <p:cNvSpPr txBox="1"/>
          <p:nvPr/>
        </p:nvSpPr>
        <p:spPr>
          <a:xfrm>
            <a:off x="3203922" y="1323975"/>
            <a:ext cx="11880155" cy="1732072"/>
          </a:xfrm>
          <a:prstGeom prst="rect">
            <a:avLst/>
          </a:prstGeom>
        </p:spPr>
        <p:txBody>
          <a:bodyPr lIns="0" tIns="0" rIns="0" bIns="0" rtlCol="0" anchor="t">
            <a:spAutoFit/>
          </a:bodyPr>
          <a:lstStyle/>
          <a:p>
            <a:pPr algn="ctr">
              <a:lnSpc>
                <a:spcPts val="6426"/>
              </a:lnSpc>
            </a:pPr>
            <a:r>
              <a:rPr lang="en-US" sz="8033" b="1">
                <a:solidFill>
                  <a:srgbClr val="252930"/>
                </a:solidFill>
                <a:latin typeface="Maven Pro Bold"/>
                <a:ea typeface="Maven Pro Bold"/>
                <a:cs typeface="Maven Pro Bold"/>
                <a:sym typeface="Maven Pro Bold"/>
              </a:rPr>
              <a:t>HOW KMP ALGORITHM WORKS ?</a:t>
            </a:r>
          </a:p>
        </p:txBody>
      </p:sp>
      <p:grpSp>
        <p:nvGrpSpPr>
          <p:cNvPr id="3" name="Group 3"/>
          <p:cNvGrpSpPr/>
          <p:nvPr/>
        </p:nvGrpSpPr>
        <p:grpSpPr>
          <a:xfrm>
            <a:off x="1028700" y="3043880"/>
            <a:ext cx="16718142" cy="6089397"/>
            <a:chOff x="0" y="0"/>
            <a:chExt cx="4403132" cy="1603792"/>
          </a:xfrm>
        </p:grpSpPr>
        <p:sp>
          <p:nvSpPr>
            <p:cNvPr id="4" name="Freeform 4"/>
            <p:cNvSpPr/>
            <p:nvPr/>
          </p:nvSpPr>
          <p:spPr>
            <a:xfrm>
              <a:off x="0" y="0"/>
              <a:ext cx="4403132" cy="1603792"/>
            </a:xfrm>
            <a:custGeom>
              <a:avLst/>
              <a:gdLst/>
              <a:ahLst/>
              <a:cxnLst/>
              <a:rect l="l" t="t" r="r" b="b"/>
              <a:pathLst>
                <a:path w="4403132" h="1603792">
                  <a:moveTo>
                    <a:pt x="23617" y="0"/>
                  </a:moveTo>
                  <a:lnTo>
                    <a:pt x="4379515" y="0"/>
                  </a:lnTo>
                  <a:cubicBezTo>
                    <a:pt x="4385778" y="0"/>
                    <a:pt x="4391785" y="2488"/>
                    <a:pt x="4396215" y="6917"/>
                  </a:cubicBezTo>
                  <a:cubicBezTo>
                    <a:pt x="4400644" y="11346"/>
                    <a:pt x="4403132" y="17354"/>
                    <a:pt x="4403132" y="23617"/>
                  </a:cubicBezTo>
                  <a:lnTo>
                    <a:pt x="4403132" y="1580174"/>
                  </a:lnTo>
                  <a:cubicBezTo>
                    <a:pt x="4403132" y="1586438"/>
                    <a:pt x="4400644" y="1592445"/>
                    <a:pt x="4396215" y="1596875"/>
                  </a:cubicBezTo>
                  <a:cubicBezTo>
                    <a:pt x="4391785" y="1601304"/>
                    <a:pt x="4385778" y="1603792"/>
                    <a:pt x="4379515" y="1603792"/>
                  </a:cubicBezTo>
                  <a:lnTo>
                    <a:pt x="23617" y="1603792"/>
                  </a:lnTo>
                  <a:cubicBezTo>
                    <a:pt x="17354" y="1603792"/>
                    <a:pt x="11346" y="1601304"/>
                    <a:pt x="6917" y="1596875"/>
                  </a:cubicBezTo>
                  <a:cubicBezTo>
                    <a:pt x="2488" y="1592445"/>
                    <a:pt x="0" y="1586438"/>
                    <a:pt x="0" y="1580174"/>
                  </a:cubicBezTo>
                  <a:lnTo>
                    <a:pt x="0" y="23617"/>
                  </a:lnTo>
                  <a:cubicBezTo>
                    <a:pt x="0" y="17354"/>
                    <a:pt x="2488" y="11346"/>
                    <a:pt x="6917" y="6917"/>
                  </a:cubicBezTo>
                  <a:cubicBezTo>
                    <a:pt x="11346" y="2488"/>
                    <a:pt x="17354" y="0"/>
                    <a:pt x="23617" y="0"/>
                  </a:cubicBezTo>
                  <a:close/>
                </a:path>
              </a:pathLst>
            </a:custGeom>
            <a:solidFill>
              <a:srgbClr val="C0B3A0">
                <a:alpha val="53725"/>
              </a:srgbClr>
            </a:solidFill>
          </p:spPr>
        </p:sp>
        <p:sp>
          <p:nvSpPr>
            <p:cNvPr id="5" name="TextBox 5"/>
            <p:cNvSpPr txBox="1"/>
            <p:nvPr/>
          </p:nvSpPr>
          <p:spPr>
            <a:xfrm>
              <a:off x="0" y="-38100"/>
              <a:ext cx="4403132" cy="1641892"/>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1222612" y="3556833"/>
            <a:ext cx="16330318" cy="5443524"/>
          </a:xfrm>
          <a:prstGeom prst="rect">
            <a:avLst/>
          </a:prstGeom>
        </p:spPr>
        <p:txBody>
          <a:bodyPr lIns="0" tIns="0" rIns="0" bIns="0" rtlCol="0" anchor="t">
            <a:spAutoFit/>
          </a:bodyPr>
          <a:lstStyle/>
          <a:p>
            <a:pPr algn="just">
              <a:lnSpc>
                <a:spcPts val="3938"/>
              </a:lnSpc>
            </a:pPr>
            <a:r>
              <a:rPr lang="en-US" sz="2813" b="1">
                <a:solidFill>
                  <a:srgbClr val="252930"/>
                </a:solidFill>
                <a:latin typeface="Maven Pro Bold"/>
                <a:ea typeface="Maven Pro Bold"/>
                <a:cs typeface="Maven Pro Bold"/>
                <a:sym typeface="Maven Pro Bold"/>
              </a:rPr>
              <a:t>Step-by-Step Breakdown of the KMP Algorithm :</a:t>
            </a:r>
          </a:p>
          <a:p>
            <a:pPr algn="just">
              <a:lnSpc>
                <a:spcPts val="3938"/>
              </a:lnSpc>
            </a:pPr>
            <a:r>
              <a:rPr lang="en-US" sz="2813">
                <a:solidFill>
                  <a:srgbClr val="252930"/>
                </a:solidFill>
                <a:latin typeface="Maven Pro"/>
                <a:ea typeface="Maven Pro"/>
                <a:cs typeface="Maven Pro"/>
                <a:sym typeface="Maven Pro"/>
              </a:rPr>
              <a:t>The KMP algorithm is an efficient string-matching algorithm that improves on brute-force matching by preprocessing the pattern using an LPS (Longest Prefix Suffix) array.</a:t>
            </a:r>
          </a:p>
          <a:p>
            <a:pPr algn="just">
              <a:lnSpc>
                <a:spcPts val="3938"/>
              </a:lnSpc>
            </a:pPr>
            <a:endParaRPr lang="en-US" sz="2813">
              <a:solidFill>
                <a:srgbClr val="252930"/>
              </a:solidFill>
              <a:latin typeface="Maven Pro"/>
              <a:ea typeface="Maven Pro"/>
              <a:cs typeface="Maven Pro"/>
              <a:sym typeface="Maven Pro"/>
            </a:endParaRPr>
          </a:p>
          <a:p>
            <a:pPr algn="just">
              <a:lnSpc>
                <a:spcPts val="3938"/>
              </a:lnSpc>
            </a:pPr>
            <a:r>
              <a:rPr lang="en-US" sz="2813" b="1">
                <a:solidFill>
                  <a:srgbClr val="252930"/>
                </a:solidFill>
                <a:latin typeface="Maven Pro Bold"/>
                <a:ea typeface="Maven Pro Bold"/>
                <a:cs typeface="Maven Pro Bold"/>
                <a:sym typeface="Maven Pro Bold"/>
              </a:rPr>
              <a:t>1. Preprocessing Step: Compute the LPS Array :</a:t>
            </a:r>
          </a:p>
          <a:p>
            <a:pPr algn="just">
              <a:lnSpc>
                <a:spcPts val="3938"/>
              </a:lnSpc>
            </a:pPr>
            <a:r>
              <a:rPr lang="en-US" sz="2813">
                <a:solidFill>
                  <a:srgbClr val="252930"/>
                </a:solidFill>
                <a:latin typeface="Maven Pro"/>
                <a:ea typeface="Maven Pro"/>
                <a:cs typeface="Maven Pro"/>
                <a:sym typeface="Maven Pro"/>
              </a:rPr>
              <a:t>The LPS array helps in skipping unnecessary comparisons during the search.</a:t>
            </a:r>
          </a:p>
          <a:p>
            <a:pPr algn="just">
              <a:lnSpc>
                <a:spcPts val="3938"/>
              </a:lnSpc>
            </a:pPr>
            <a:endParaRPr lang="en-US" sz="2813">
              <a:solidFill>
                <a:srgbClr val="252930"/>
              </a:solidFill>
              <a:latin typeface="Maven Pro"/>
              <a:ea typeface="Maven Pro"/>
              <a:cs typeface="Maven Pro"/>
              <a:sym typeface="Maven Pro"/>
            </a:endParaRPr>
          </a:p>
          <a:p>
            <a:pPr algn="just">
              <a:lnSpc>
                <a:spcPts val="3938"/>
              </a:lnSpc>
            </a:pPr>
            <a:r>
              <a:rPr lang="en-US" sz="2813" b="1">
                <a:solidFill>
                  <a:srgbClr val="252930"/>
                </a:solidFill>
                <a:latin typeface="Maven Pro Bold"/>
                <a:ea typeface="Maven Pro Bold"/>
                <a:cs typeface="Maven Pro Bold"/>
                <a:sym typeface="Maven Pro Bold"/>
              </a:rPr>
              <a:t>How the LPS Array is Built :</a:t>
            </a:r>
          </a:p>
          <a:p>
            <a:pPr marL="607337" lvl="1" indent="-303668" algn="just">
              <a:lnSpc>
                <a:spcPts val="3938"/>
              </a:lnSpc>
              <a:buFont typeface="Arial"/>
              <a:buChar char="•"/>
            </a:pPr>
            <a:r>
              <a:rPr lang="en-US" sz="2813">
                <a:solidFill>
                  <a:srgbClr val="252930"/>
                </a:solidFill>
                <a:latin typeface="Maven Pro"/>
                <a:ea typeface="Maven Pro"/>
                <a:cs typeface="Maven Pro"/>
                <a:sym typeface="Maven Pro"/>
              </a:rPr>
              <a:t>The LPS array for a pattern stores the length of the longest proper prefix that is also a suffix.</a:t>
            </a:r>
          </a:p>
          <a:p>
            <a:pPr marL="607337" lvl="1" indent="-303668" algn="just">
              <a:lnSpc>
                <a:spcPts val="3938"/>
              </a:lnSpc>
              <a:buFont typeface="Arial"/>
              <a:buChar char="•"/>
            </a:pPr>
            <a:r>
              <a:rPr lang="en-US" sz="2813">
                <a:solidFill>
                  <a:srgbClr val="252930"/>
                </a:solidFill>
                <a:latin typeface="Maven Pro"/>
                <a:ea typeface="Maven Pro"/>
                <a:cs typeface="Maven Pro"/>
                <a:sym typeface="Maven Pro"/>
              </a:rPr>
              <a:t>It prevents unnecessary comparisons, making the KMP algorithm efficient.</a:t>
            </a:r>
          </a:p>
          <a:p>
            <a:pPr algn="just">
              <a:lnSpc>
                <a:spcPts val="3938"/>
              </a:lnSpc>
            </a:pPr>
            <a:endParaRPr lang="en-US" sz="2813">
              <a:solidFill>
                <a:srgbClr val="252930"/>
              </a:solidFill>
              <a:latin typeface="Maven Pro"/>
              <a:ea typeface="Maven Pro"/>
              <a:cs typeface="Maven Pro"/>
              <a:sym typeface="Maven Pro"/>
            </a:endParaRPr>
          </a:p>
        </p:txBody>
      </p:sp>
      <p:sp>
        <p:nvSpPr>
          <p:cNvPr id="7" name="Freeform 7"/>
          <p:cNvSpPr/>
          <p:nvPr/>
        </p:nvSpPr>
        <p:spPr>
          <a:xfrm>
            <a:off x="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a:off x="1028700" y="9077308"/>
            <a:ext cx="2716317" cy="1358159"/>
          </a:xfrm>
          <a:custGeom>
            <a:avLst/>
            <a:gdLst/>
            <a:ahLst/>
            <a:cxnLst/>
            <a:rect l="l" t="t" r="r" b="b"/>
            <a:pathLst>
              <a:path w="2716317" h="1358159">
                <a:moveTo>
                  <a:pt x="0" y="0"/>
                </a:moveTo>
                <a:lnTo>
                  <a:pt x="2716317" y="0"/>
                </a:lnTo>
                <a:lnTo>
                  <a:pt x="2716317" y="1358159"/>
                </a:lnTo>
                <a:lnTo>
                  <a:pt x="0" y="135815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9" name="Freeform 9"/>
          <p:cNvSpPr/>
          <p:nvPr/>
        </p:nvSpPr>
        <p:spPr>
          <a:xfrm>
            <a:off x="14354175" y="-123825"/>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sp>
        <p:nvSpPr>
          <p:cNvPr id="2" name="TextBox 2"/>
          <p:cNvSpPr txBox="1"/>
          <p:nvPr/>
        </p:nvSpPr>
        <p:spPr>
          <a:xfrm>
            <a:off x="1845450" y="3927713"/>
            <a:ext cx="11774064" cy="2088519"/>
          </a:xfrm>
          <a:prstGeom prst="rect">
            <a:avLst/>
          </a:prstGeom>
        </p:spPr>
        <p:txBody>
          <a:bodyPr lIns="0" tIns="0" rIns="0" bIns="0" rtlCol="0" anchor="t">
            <a:spAutoFit/>
          </a:bodyPr>
          <a:lstStyle/>
          <a:p>
            <a:pPr marL="507842" lvl="1" indent="-253921" algn="just">
              <a:lnSpc>
                <a:spcPts val="3293"/>
              </a:lnSpc>
              <a:buFont typeface="Arial"/>
              <a:buChar char="•"/>
            </a:pPr>
            <a:r>
              <a:rPr lang="en-US" sz="2352">
                <a:solidFill>
                  <a:srgbClr val="252930"/>
                </a:solidFill>
                <a:latin typeface="Maven Pro"/>
                <a:ea typeface="Maven Pro"/>
                <a:cs typeface="Maven Pro"/>
                <a:sym typeface="Maven Pro"/>
              </a:rPr>
              <a:t>A university wants to ensure academic integrity by detecting plagiarism in student assignments.</a:t>
            </a:r>
          </a:p>
          <a:p>
            <a:pPr marL="507842" lvl="1" indent="-253921" algn="just">
              <a:lnSpc>
                <a:spcPts val="3293"/>
              </a:lnSpc>
              <a:buFont typeface="Arial"/>
              <a:buChar char="•"/>
            </a:pPr>
            <a:r>
              <a:rPr lang="en-US" sz="2352">
                <a:solidFill>
                  <a:srgbClr val="252930"/>
                </a:solidFill>
                <a:latin typeface="Maven Pro"/>
                <a:ea typeface="Maven Pro"/>
                <a:cs typeface="Maven Pro"/>
                <a:sym typeface="Maven Pro"/>
              </a:rPr>
              <a:t>The system compares each student’s submission against previously submitted assignments and online sources.</a:t>
            </a:r>
          </a:p>
          <a:p>
            <a:pPr algn="just">
              <a:lnSpc>
                <a:spcPts val="3293"/>
              </a:lnSpc>
            </a:pPr>
            <a:endParaRPr lang="en-US" sz="2352">
              <a:solidFill>
                <a:srgbClr val="252930"/>
              </a:solidFill>
              <a:latin typeface="Maven Pro"/>
              <a:ea typeface="Maven Pro"/>
              <a:cs typeface="Maven Pro"/>
              <a:sym typeface="Maven Pro"/>
            </a:endParaRPr>
          </a:p>
        </p:txBody>
      </p:sp>
      <p:sp>
        <p:nvSpPr>
          <p:cNvPr id="3" name="TextBox 3"/>
          <p:cNvSpPr txBox="1"/>
          <p:nvPr/>
        </p:nvSpPr>
        <p:spPr>
          <a:xfrm>
            <a:off x="276920" y="1391425"/>
            <a:ext cx="17734160" cy="1341474"/>
          </a:xfrm>
          <a:prstGeom prst="rect">
            <a:avLst/>
          </a:prstGeom>
        </p:spPr>
        <p:txBody>
          <a:bodyPr lIns="0" tIns="0" rIns="0" bIns="0" rtlCol="0" anchor="t">
            <a:spAutoFit/>
          </a:bodyPr>
          <a:lstStyle/>
          <a:p>
            <a:pPr algn="ctr">
              <a:lnSpc>
                <a:spcPts val="4930"/>
              </a:lnSpc>
            </a:pPr>
            <a:r>
              <a:rPr lang="en-US" sz="6163" b="1">
                <a:solidFill>
                  <a:srgbClr val="252930"/>
                </a:solidFill>
                <a:latin typeface="Maven Pro Bold"/>
                <a:ea typeface="Maven Pro Bold"/>
                <a:cs typeface="Maven Pro Bold"/>
                <a:sym typeface="Maven Pro Bold"/>
              </a:rPr>
              <a:t>CASE STUDY - REAL-WORLD </a:t>
            </a:r>
          </a:p>
          <a:p>
            <a:pPr algn="ctr">
              <a:lnSpc>
                <a:spcPts val="4930"/>
              </a:lnSpc>
            </a:pPr>
            <a:r>
              <a:rPr lang="en-US" sz="6163" b="1">
                <a:solidFill>
                  <a:srgbClr val="252930"/>
                </a:solidFill>
                <a:latin typeface="Maven Pro Bold"/>
                <a:ea typeface="Maven Pro Bold"/>
                <a:cs typeface="Maven Pro Bold"/>
                <a:sym typeface="Maven Pro Bold"/>
              </a:rPr>
              <a:t>APPLICATION</a:t>
            </a:r>
          </a:p>
        </p:txBody>
      </p:sp>
      <p:sp>
        <p:nvSpPr>
          <p:cNvPr id="4" name="Freeform 4"/>
          <p:cNvSpPr/>
          <p:nvPr/>
        </p:nvSpPr>
        <p:spPr>
          <a:xfrm flipH="1">
            <a:off x="-211950" y="-104775"/>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1777365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rot="5400000">
            <a:off x="15972490" y="900019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TextBox 7"/>
          <p:cNvSpPr txBox="1"/>
          <p:nvPr/>
        </p:nvSpPr>
        <p:spPr>
          <a:xfrm>
            <a:off x="23466" y="3013476"/>
            <a:ext cx="16207134" cy="618962"/>
          </a:xfrm>
          <a:prstGeom prst="rect">
            <a:avLst/>
          </a:prstGeom>
        </p:spPr>
        <p:txBody>
          <a:bodyPr lIns="0" tIns="0" rIns="0" bIns="0" rtlCol="0" anchor="t">
            <a:spAutoFit/>
          </a:bodyPr>
          <a:lstStyle/>
          <a:p>
            <a:pPr algn="ctr">
              <a:lnSpc>
                <a:spcPts val="4999"/>
              </a:lnSpc>
              <a:spcBef>
                <a:spcPct val="0"/>
              </a:spcBef>
            </a:pPr>
            <a:r>
              <a:rPr lang="en-US" sz="3570" b="1">
                <a:solidFill>
                  <a:srgbClr val="252930"/>
                </a:solidFill>
                <a:latin typeface="Maven Pro Bold"/>
                <a:ea typeface="Maven Pro Bold"/>
                <a:cs typeface="Maven Pro Bold"/>
                <a:sym typeface="Maven Pro Bold"/>
              </a:rPr>
              <a:t>SCENARIO: DETECTING PLAGIARISM IN STUDENT ASSIGNMENTS</a:t>
            </a:r>
          </a:p>
        </p:txBody>
      </p:sp>
      <p:sp>
        <p:nvSpPr>
          <p:cNvPr id="8" name="TextBox 8"/>
          <p:cNvSpPr txBox="1"/>
          <p:nvPr/>
        </p:nvSpPr>
        <p:spPr>
          <a:xfrm>
            <a:off x="1845450" y="5959082"/>
            <a:ext cx="14065511" cy="4093154"/>
          </a:xfrm>
          <a:prstGeom prst="rect">
            <a:avLst/>
          </a:prstGeom>
        </p:spPr>
        <p:txBody>
          <a:bodyPr lIns="0" tIns="0" rIns="0" bIns="0" rtlCol="0" anchor="t">
            <a:spAutoFit/>
          </a:bodyPr>
          <a:lstStyle/>
          <a:p>
            <a:pPr algn="just">
              <a:lnSpc>
                <a:spcPts val="3293"/>
              </a:lnSpc>
            </a:pPr>
            <a:r>
              <a:rPr lang="en-US" sz="2352" b="1">
                <a:solidFill>
                  <a:srgbClr val="252930"/>
                </a:solidFill>
                <a:latin typeface="Maven Pro Bold"/>
                <a:ea typeface="Maven Pro Bold"/>
                <a:cs typeface="Maven Pro Bold"/>
                <a:sym typeface="Maven Pro Bold"/>
              </a:rPr>
              <a:t>Test Case Setup :</a:t>
            </a:r>
          </a:p>
          <a:p>
            <a:pPr marL="507842" lvl="1" indent="-253921" algn="just">
              <a:lnSpc>
                <a:spcPts val="3293"/>
              </a:lnSpc>
              <a:buFont typeface="Arial"/>
              <a:buChar char="•"/>
            </a:pPr>
            <a:r>
              <a:rPr lang="en-US" sz="2352">
                <a:solidFill>
                  <a:srgbClr val="252930"/>
                </a:solidFill>
                <a:latin typeface="Maven Pro"/>
                <a:ea typeface="Maven Pro"/>
                <a:cs typeface="Maven Pro"/>
                <a:sym typeface="Maven Pro"/>
              </a:rPr>
              <a:t>To demonstrate the effectiveness of the KMP Algorithm, we set up the following:</a:t>
            </a:r>
          </a:p>
          <a:p>
            <a:pPr algn="just">
              <a:lnSpc>
                <a:spcPts val="3293"/>
              </a:lnSpc>
            </a:pPr>
            <a:r>
              <a:rPr lang="en-US" sz="2352">
                <a:solidFill>
                  <a:srgbClr val="252930"/>
                </a:solidFill>
                <a:latin typeface="Maven Pro"/>
                <a:ea typeface="Maven Pro"/>
                <a:cs typeface="Maven Pro"/>
                <a:sym typeface="Maven Pro"/>
              </a:rPr>
              <a:t>      </a:t>
            </a:r>
            <a:r>
              <a:rPr lang="en-US" sz="2352" b="1">
                <a:solidFill>
                  <a:srgbClr val="252930"/>
                </a:solidFill>
                <a:latin typeface="Maven Pro Bold"/>
                <a:ea typeface="Maven Pro Bold"/>
                <a:cs typeface="Maven Pro Bold"/>
                <a:sym typeface="Maven Pro Bold"/>
              </a:rPr>
              <a:t>1. Main Document (Original Content) </a:t>
            </a:r>
          </a:p>
          <a:p>
            <a:pPr marL="507842" lvl="1" indent="-253921" algn="just">
              <a:lnSpc>
                <a:spcPts val="3293"/>
              </a:lnSpc>
              <a:buFont typeface="Arial"/>
              <a:buChar char="•"/>
            </a:pPr>
            <a:r>
              <a:rPr lang="en-US" sz="2352">
                <a:solidFill>
                  <a:srgbClr val="252930"/>
                </a:solidFill>
                <a:latin typeface="Maven Pro"/>
                <a:ea typeface="Maven Pro"/>
                <a:cs typeface="Maven Pro"/>
                <a:sym typeface="Maven Pro"/>
              </a:rPr>
              <a:t>A reference document (e.g., a professor’s lecture notes or an assignment template).</a:t>
            </a:r>
          </a:p>
          <a:p>
            <a:pPr algn="just">
              <a:lnSpc>
                <a:spcPts val="3293"/>
              </a:lnSpc>
            </a:pPr>
            <a:endParaRPr lang="en-US" sz="2352">
              <a:solidFill>
                <a:srgbClr val="252930"/>
              </a:solidFill>
              <a:latin typeface="Maven Pro"/>
              <a:ea typeface="Maven Pro"/>
              <a:cs typeface="Maven Pro"/>
              <a:sym typeface="Maven Pro"/>
            </a:endParaRPr>
          </a:p>
          <a:p>
            <a:pPr algn="just">
              <a:lnSpc>
                <a:spcPts val="3293"/>
              </a:lnSpc>
            </a:pPr>
            <a:r>
              <a:rPr lang="en-US" sz="2352">
                <a:solidFill>
                  <a:srgbClr val="252930"/>
                </a:solidFill>
                <a:latin typeface="Maven Pro"/>
                <a:ea typeface="Maven Pro"/>
                <a:cs typeface="Maven Pro"/>
                <a:sym typeface="Maven Pro"/>
              </a:rPr>
              <a:t>      </a:t>
            </a:r>
            <a:r>
              <a:rPr lang="en-US" sz="2352" b="1">
                <a:solidFill>
                  <a:srgbClr val="252930"/>
                </a:solidFill>
                <a:latin typeface="Maven Pro Bold"/>
                <a:ea typeface="Maven Pro Bold"/>
                <a:cs typeface="Maven Pro Bold"/>
                <a:sym typeface="Maven Pro Bold"/>
              </a:rPr>
              <a:t>2. Three Pattern Documents (Submitted Assignments)</a:t>
            </a:r>
          </a:p>
          <a:p>
            <a:pPr marL="507842" lvl="1" indent="-253921" algn="just">
              <a:lnSpc>
                <a:spcPts val="3293"/>
              </a:lnSpc>
              <a:buFont typeface="Arial"/>
              <a:buChar char="•"/>
            </a:pPr>
            <a:r>
              <a:rPr lang="en-US" sz="2352">
                <a:solidFill>
                  <a:srgbClr val="252930"/>
                </a:solidFill>
                <a:latin typeface="Maven Pro"/>
                <a:ea typeface="Maven Pro"/>
                <a:cs typeface="Maven Pro"/>
                <a:sym typeface="Maven Pro"/>
              </a:rPr>
              <a:t>Pattern 1: A student’s assignment with exact copied content from the main document.</a:t>
            </a:r>
          </a:p>
          <a:p>
            <a:pPr marL="507842" lvl="1" indent="-253921" algn="just">
              <a:lnSpc>
                <a:spcPts val="3293"/>
              </a:lnSpc>
              <a:buFont typeface="Arial"/>
              <a:buChar char="•"/>
            </a:pPr>
            <a:r>
              <a:rPr lang="en-US" sz="2352">
                <a:solidFill>
                  <a:srgbClr val="252930"/>
                </a:solidFill>
                <a:latin typeface="Maven Pro"/>
                <a:ea typeface="Maven Pro"/>
                <a:cs typeface="Maven Pro"/>
                <a:sym typeface="Maven Pro"/>
              </a:rPr>
              <a:t>Pattern 2: A student’s assignment with partially reworded content and slight modifications.</a:t>
            </a:r>
          </a:p>
          <a:p>
            <a:pPr marL="507842" lvl="1" indent="-253921" algn="just">
              <a:lnSpc>
                <a:spcPts val="3293"/>
              </a:lnSpc>
              <a:buFont typeface="Arial"/>
              <a:buChar char="•"/>
            </a:pPr>
            <a:r>
              <a:rPr lang="en-US" sz="2352">
                <a:solidFill>
                  <a:srgbClr val="252930"/>
                </a:solidFill>
                <a:latin typeface="Maven Pro"/>
                <a:ea typeface="Maven Pro"/>
                <a:cs typeface="Maven Pro"/>
                <a:sym typeface="Maven Pro"/>
              </a:rPr>
              <a:t>Pattern 3: A completely original submission with no copied content.</a:t>
            </a:r>
          </a:p>
          <a:p>
            <a:pPr algn="just">
              <a:lnSpc>
                <a:spcPts val="3293"/>
              </a:lnSpc>
            </a:pPr>
            <a:endParaRPr lang="en-US" sz="2352">
              <a:solidFill>
                <a:srgbClr val="252930"/>
              </a:solidFill>
              <a:latin typeface="Maven Pro"/>
              <a:ea typeface="Maven Pro"/>
              <a:cs typeface="Maven Pro"/>
              <a:sym typeface="Maven Pr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sp>
        <p:nvSpPr>
          <p:cNvPr id="2" name="Freeform 2"/>
          <p:cNvSpPr/>
          <p:nvPr/>
        </p:nvSpPr>
        <p:spPr>
          <a:xfrm>
            <a:off x="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4354175" y="-123825"/>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rot="-5400000">
            <a:off x="1799290" y="900019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TextBox 6"/>
          <p:cNvSpPr txBox="1"/>
          <p:nvPr/>
        </p:nvSpPr>
        <p:spPr>
          <a:xfrm>
            <a:off x="641072" y="1294855"/>
            <a:ext cx="17418328" cy="3983463"/>
          </a:xfrm>
          <a:prstGeom prst="rect">
            <a:avLst/>
          </a:prstGeom>
        </p:spPr>
        <p:txBody>
          <a:bodyPr wrap="square" lIns="0" tIns="0" rIns="0" bIns="0" rtlCol="0" anchor="t">
            <a:spAutoFit/>
          </a:bodyPr>
          <a:lstStyle/>
          <a:p>
            <a:pPr algn="just">
              <a:lnSpc>
                <a:spcPts val="4486"/>
              </a:lnSpc>
            </a:pPr>
            <a:r>
              <a:rPr lang="en-US" sz="3204" dirty="0">
                <a:solidFill>
                  <a:srgbClr val="252930"/>
                </a:solidFill>
                <a:latin typeface="Maven Pro"/>
                <a:ea typeface="Maven Pro"/>
                <a:cs typeface="Maven Pro"/>
                <a:sym typeface="Maven Pro"/>
              </a:rPr>
              <a:t>Insights</a:t>
            </a:r>
          </a:p>
          <a:p>
            <a:pPr marL="691941" lvl="1" indent="-345970" algn="just">
              <a:lnSpc>
                <a:spcPts val="4486"/>
              </a:lnSpc>
              <a:buFont typeface="Arial"/>
              <a:buChar char="•"/>
            </a:pPr>
            <a:r>
              <a:rPr lang="en-US" sz="3204" dirty="0">
                <a:solidFill>
                  <a:srgbClr val="252930"/>
                </a:solidFill>
                <a:latin typeface="Maven Pro"/>
                <a:ea typeface="Maven Pro"/>
                <a:cs typeface="Maven Pro"/>
                <a:sym typeface="Maven Pro"/>
              </a:rPr>
              <a:t>Test 1: Since the submission is nearly identical, the KMP algorithm efficiently detects plagiarism.</a:t>
            </a:r>
          </a:p>
          <a:p>
            <a:pPr marL="691941" lvl="1" indent="-345970" algn="just">
              <a:lnSpc>
                <a:spcPts val="4486"/>
              </a:lnSpc>
              <a:buFont typeface="Arial"/>
              <a:buChar char="•"/>
            </a:pPr>
            <a:r>
              <a:rPr lang="en-US" sz="3204" dirty="0">
                <a:solidFill>
                  <a:srgbClr val="252930"/>
                </a:solidFill>
                <a:latin typeface="Maven Pro"/>
                <a:ea typeface="Maven Pro"/>
                <a:cs typeface="Maven Pro"/>
                <a:sym typeface="Maven Pro"/>
              </a:rPr>
              <a:t>Test 2: Some content is copied, but modifications make it harder to detect, resulting in partial plagiarism.</a:t>
            </a:r>
          </a:p>
          <a:p>
            <a:pPr marL="691941" lvl="1" indent="-345970" algn="just">
              <a:lnSpc>
                <a:spcPts val="4486"/>
              </a:lnSpc>
              <a:buFont typeface="Arial"/>
              <a:buChar char="•"/>
            </a:pPr>
            <a:r>
              <a:rPr lang="en-US" sz="3204" dirty="0">
                <a:solidFill>
                  <a:srgbClr val="252930"/>
                </a:solidFill>
                <a:latin typeface="Maven Pro"/>
                <a:ea typeface="Maven Pro"/>
                <a:cs typeface="Maven Pro"/>
                <a:sym typeface="Maven Pro"/>
              </a:rPr>
              <a:t>Test 3: The student's work is original, leading to a 0% plagiarism score.</a:t>
            </a:r>
          </a:p>
          <a:p>
            <a:pPr algn="just">
              <a:lnSpc>
                <a:spcPts val="4486"/>
              </a:lnSpc>
            </a:pPr>
            <a:endParaRPr lang="en-US" sz="3204" dirty="0">
              <a:solidFill>
                <a:srgbClr val="252930"/>
              </a:solidFill>
              <a:latin typeface="Maven Pro"/>
              <a:ea typeface="Maven Pro"/>
              <a:cs typeface="Maven Pro"/>
              <a:sym typeface="Maven Pro"/>
            </a:endParaRPr>
          </a:p>
        </p:txBody>
      </p:sp>
      <p:sp>
        <p:nvSpPr>
          <p:cNvPr id="7" name="TextBox 7"/>
          <p:cNvSpPr txBox="1"/>
          <p:nvPr/>
        </p:nvSpPr>
        <p:spPr>
          <a:xfrm>
            <a:off x="-304800" y="374104"/>
            <a:ext cx="7640663" cy="920751"/>
          </a:xfrm>
          <a:prstGeom prst="rect">
            <a:avLst/>
          </a:prstGeom>
        </p:spPr>
        <p:txBody>
          <a:bodyPr lIns="0" tIns="0" rIns="0" bIns="0" rtlCol="0" anchor="t">
            <a:spAutoFit/>
          </a:bodyPr>
          <a:lstStyle/>
          <a:p>
            <a:pPr algn="ctr">
              <a:lnSpc>
                <a:spcPts val="6400"/>
              </a:lnSpc>
            </a:pPr>
            <a:r>
              <a:rPr lang="en-US" sz="8000" b="1" dirty="0">
                <a:solidFill>
                  <a:srgbClr val="252930"/>
                </a:solidFill>
                <a:latin typeface="Maven Pro Bold"/>
                <a:ea typeface="Maven Pro Bold"/>
                <a:cs typeface="Maven Pro Bold"/>
                <a:sym typeface="Maven Pro Bold"/>
              </a:rPr>
              <a:t>TEST CASES </a:t>
            </a:r>
          </a:p>
        </p:txBody>
      </p:sp>
      <p:graphicFrame>
        <p:nvGraphicFramePr>
          <p:cNvPr id="8" name="Table 7">
            <a:extLst>
              <a:ext uri="{FF2B5EF4-FFF2-40B4-BE49-F238E27FC236}">
                <a16:creationId xmlns:a16="http://schemas.microsoft.com/office/drawing/2014/main" id="{ECABB821-E4C2-9F5E-7021-4DCC1F2D3A46}"/>
              </a:ext>
            </a:extLst>
          </p:cNvPr>
          <p:cNvGraphicFramePr>
            <a:graphicFrameLocks noGrp="1"/>
          </p:cNvGraphicFramePr>
          <p:nvPr>
            <p:extLst>
              <p:ext uri="{D42A27DB-BD31-4B8C-83A1-F6EECF244321}">
                <p14:modId xmlns:p14="http://schemas.microsoft.com/office/powerpoint/2010/main" val="2647974816"/>
              </p:ext>
            </p:extLst>
          </p:nvPr>
        </p:nvGraphicFramePr>
        <p:xfrm>
          <a:off x="2286000" y="4908039"/>
          <a:ext cx="13716000" cy="4769395"/>
        </p:xfrm>
        <a:graphic>
          <a:graphicData uri="http://schemas.openxmlformats.org/drawingml/2006/table">
            <a:tbl>
              <a:tblPr firstRow="1" bandRow="1">
                <a:tableStyleId>{69C7853C-536D-4A76-A0AE-DD22124D55A5}</a:tableStyleId>
              </a:tblPr>
              <a:tblGrid>
                <a:gridCol w="3048000">
                  <a:extLst>
                    <a:ext uri="{9D8B030D-6E8A-4147-A177-3AD203B41FA5}">
                      <a16:colId xmlns:a16="http://schemas.microsoft.com/office/drawing/2014/main" val="489101607"/>
                    </a:ext>
                  </a:extLst>
                </a:gridCol>
                <a:gridCol w="3048000">
                  <a:extLst>
                    <a:ext uri="{9D8B030D-6E8A-4147-A177-3AD203B41FA5}">
                      <a16:colId xmlns:a16="http://schemas.microsoft.com/office/drawing/2014/main" val="4040098537"/>
                    </a:ext>
                  </a:extLst>
                </a:gridCol>
                <a:gridCol w="3048000">
                  <a:extLst>
                    <a:ext uri="{9D8B030D-6E8A-4147-A177-3AD203B41FA5}">
                      <a16:colId xmlns:a16="http://schemas.microsoft.com/office/drawing/2014/main" val="372868534"/>
                    </a:ext>
                  </a:extLst>
                </a:gridCol>
                <a:gridCol w="4572000">
                  <a:extLst>
                    <a:ext uri="{9D8B030D-6E8A-4147-A177-3AD203B41FA5}">
                      <a16:colId xmlns:a16="http://schemas.microsoft.com/office/drawing/2014/main" val="1636479516"/>
                    </a:ext>
                  </a:extLst>
                </a:gridCol>
              </a:tblGrid>
              <a:tr h="778198">
                <a:tc>
                  <a:txBody>
                    <a:bodyPr/>
                    <a:lstStyle/>
                    <a:p>
                      <a:pPr algn="ctr"/>
                      <a:r>
                        <a:rPr lang="en-IN" dirty="0">
                          <a:solidFill>
                            <a:schemeClr val="tx1"/>
                          </a:solidFill>
                          <a:latin typeface="Arial Black" panose="020B0A04020102020204" pitchFamily="34" charset="0"/>
                        </a:rPr>
                        <a:t>Test Case</a:t>
                      </a:r>
                    </a:p>
                  </a:txBody>
                  <a:tcPr anchor="ctr"/>
                </a:tc>
                <a:tc>
                  <a:txBody>
                    <a:bodyPr/>
                    <a:lstStyle/>
                    <a:p>
                      <a:pPr algn="ctr"/>
                      <a:r>
                        <a:rPr lang="en-IN" dirty="0">
                          <a:solidFill>
                            <a:schemeClr val="tx1"/>
                          </a:solidFill>
                          <a:latin typeface="Arial Black" panose="020B0A04020102020204" pitchFamily="34" charset="0"/>
                        </a:rPr>
                        <a:t>Description</a:t>
                      </a:r>
                    </a:p>
                  </a:txBody>
                  <a:tcPr anchor="ctr"/>
                </a:tc>
                <a:tc>
                  <a:txBody>
                    <a:bodyPr/>
                    <a:lstStyle/>
                    <a:p>
                      <a:pPr algn="ctr"/>
                      <a:r>
                        <a:rPr lang="en-IN" dirty="0">
                          <a:solidFill>
                            <a:schemeClr val="tx1"/>
                          </a:solidFill>
                          <a:latin typeface="Arial Black" panose="020B0A04020102020204" pitchFamily="34" charset="0"/>
                        </a:rPr>
                        <a:t>Plagiarism Score (%)</a:t>
                      </a:r>
                    </a:p>
                  </a:txBody>
                  <a:tcPr anchor="ctr"/>
                </a:tc>
                <a:tc>
                  <a:txBody>
                    <a:bodyPr/>
                    <a:lstStyle/>
                    <a:p>
                      <a:pPr algn="ctr"/>
                      <a:r>
                        <a:rPr lang="en-IN" dirty="0">
                          <a:solidFill>
                            <a:schemeClr val="tx1"/>
                          </a:solidFill>
                          <a:latin typeface="Arial Black" panose="020B0A04020102020204" pitchFamily="34" charset="0"/>
                        </a:rPr>
                        <a:t>Detection Outcome</a:t>
                      </a:r>
                    </a:p>
                  </a:txBody>
                  <a:tcPr anchor="ctr"/>
                </a:tc>
                <a:extLst>
                  <a:ext uri="{0D108BD9-81ED-4DB2-BD59-A6C34878D82A}">
                    <a16:rowId xmlns:a16="http://schemas.microsoft.com/office/drawing/2014/main" val="1628310392"/>
                  </a:ext>
                </a:extLst>
              </a:tr>
              <a:tr h="1023384">
                <a:tc>
                  <a:txBody>
                    <a:bodyPr/>
                    <a:lstStyle/>
                    <a:p>
                      <a:pPr algn="ctr"/>
                      <a:r>
                        <a:rPr lang="en-IN" b="1" dirty="0">
                          <a:latin typeface="Arial Black" panose="020B0A04020102020204" pitchFamily="34" charset="0"/>
                        </a:rPr>
                        <a:t>Test 1</a:t>
                      </a:r>
                      <a:endParaRPr lang="en-IN" dirty="0">
                        <a:latin typeface="Arial Black" panose="020B0A04020102020204" pitchFamily="34" charset="0"/>
                      </a:endParaRPr>
                    </a:p>
                  </a:txBody>
                  <a:tcPr anchor="ctr"/>
                </a:tc>
                <a:tc>
                  <a:txBody>
                    <a:bodyPr/>
                    <a:lstStyle/>
                    <a:p>
                      <a:pPr algn="ctr"/>
                      <a:r>
                        <a:rPr lang="en-US" dirty="0">
                          <a:latin typeface="Arial Black" panose="020B0A04020102020204" pitchFamily="34" charset="0"/>
                        </a:rPr>
                        <a:t>Student submission is an </a:t>
                      </a:r>
                      <a:r>
                        <a:rPr lang="en-US" b="1" dirty="0">
                          <a:latin typeface="Arial Black" panose="020B0A04020102020204" pitchFamily="34" charset="0"/>
                        </a:rPr>
                        <a:t>exact copy</a:t>
                      </a:r>
                      <a:r>
                        <a:rPr lang="en-US" dirty="0">
                          <a:latin typeface="Arial Black" panose="020B0A04020102020204" pitchFamily="34" charset="0"/>
                        </a:rPr>
                        <a:t> of the main document.</a:t>
                      </a:r>
                    </a:p>
                  </a:txBody>
                  <a:tcPr anchor="ctr"/>
                </a:tc>
                <a:tc>
                  <a:txBody>
                    <a:bodyPr/>
                    <a:lstStyle/>
                    <a:p>
                      <a:pPr algn="ctr"/>
                      <a:r>
                        <a:rPr lang="en-IN" dirty="0">
                          <a:latin typeface="Arial Black" panose="020B0A04020102020204" pitchFamily="34" charset="0"/>
                        </a:rPr>
                        <a:t>90%</a:t>
                      </a:r>
                    </a:p>
                  </a:txBody>
                  <a:tcPr anchor="ctr"/>
                </a:tc>
                <a:tc>
                  <a:txBody>
                    <a:bodyPr/>
                    <a:lstStyle/>
                    <a:p>
                      <a:pPr algn="ctr"/>
                      <a:r>
                        <a:rPr lang="en-IN" dirty="0">
                          <a:latin typeface="Arial Black" panose="020B0A04020102020204" pitchFamily="34" charset="0"/>
                        </a:rPr>
                        <a:t>High Plagiarism Detected</a:t>
                      </a:r>
                    </a:p>
                  </a:txBody>
                  <a:tcPr anchor="ctr"/>
                </a:tc>
                <a:extLst>
                  <a:ext uri="{0D108BD9-81ED-4DB2-BD59-A6C34878D82A}">
                    <a16:rowId xmlns:a16="http://schemas.microsoft.com/office/drawing/2014/main" val="2042212807"/>
                  </a:ext>
                </a:extLst>
              </a:tr>
              <a:tr h="1637414">
                <a:tc>
                  <a:txBody>
                    <a:bodyPr/>
                    <a:lstStyle/>
                    <a:p>
                      <a:pPr algn="ctr"/>
                      <a:r>
                        <a:rPr lang="en-IN" b="1" dirty="0">
                          <a:latin typeface="Arial Black" panose="020B0A04020102020204" pitchFamily="34" charset="0"/>
                        </a:rPr>
                        <a:t>Test 2</a:t>
                      </a:r>
                      <a:endParaRPr lang="en-IN" dirty="0">
                        <a:latin typeface="Arial Black" panose="020B0A04020102020204" pitchFamily="34" charset="0"/>
                      </a:endParaRPr>
                    </a:p>
                  </a:txBody>
                  <a:tcPr anchor="ctr"/>
                </a:tc>
                <a:tc>
                  <a:txBody>
                    <a:bodyPr/>
                    <a:lstStyle/>
                    <a:p>
                      <a:pPr algn="ctr"/>
                      <a:r>
                        <a:rPr lang="en-US" dirty="0">
                          <a:latin typeface="Arial Black" panose="020B0A04020102020204" pitchFamily="34" charset="0"/>
                        </a:rPr>
                        <a:t>Student submission has </a:t>
                      </a:r>
                      <a:r>
                        <a:rPr lang="en-US" b="1" dirty="0">
                          <a:latin typeface="Arial Black" panose="020B0A04020102020204" pitchFamily="34" charset="0"/>
                        </a:rPr>
                        <a:t>partial matches</a:t>
                      </a:r>
                      <a:r>
                        <a:rPr lang="en-US" dirty="0">
                          <a:latin typeface="Arial Black" panose="020B0A04020102020204" pitchFamily="34" charset="0"/>
                        </a:rPr>
                        <a:t>, with some rewording and minor modifications.</a:t>
                      </a:r>
                    </a:p>
                  </a:txBody>
                  <a:tcPr anchor="ctr"/>
                </a:tc>
                <a:tc>
                  <a:txBody>
                    <a:bodyPr/>
                    <a:lstStyle/>
                    <a:p>
                      <a:pPr algn="ctr"/>
                      <a:r>
                        <a:rPr lang="en-IN" dirty="0">
                          <a:latin typeface="Arial Black" panose="020B0A04020102020204" pitchFamily="34" charset="0"/>
                        </a:rPr>
                        <a:t>50%</a:t>
                      </a:r>
                    </a:p>
                  </a:txBody>
                  <a:tcPr anchor="ctr"/>
                </a:tc>
                <a:tc>
                  <a:txBody>
                    <a:bodyPr/>
                    <a:lstStyle/>
                    <a:p>
                      <a:pPr algn="ctr"/>
                      <a:r>
                        <a:rPr lang="en-IN" dirty="0">
                          <a:latin typeface="Arial Black" panose="020B0A04020102020204" pitchFamily="34" charset="0"/>
                        </a:rPr>
                        <a:t>Moderate Plagiarism Detected</a:t>
                      </a:r>
                    </a:p>
                  </a:txBody>
                  <a:tcPr anchor="ctr"/>
                </a:tc>
                <a:extLst>
                  <a:ext uri="{0D108BD9-81ED-4DB2-BD59-A6C34878D82A}">
                    <a16:rowId xmlns:a16="http://schemas.microsoft.com/office/drawing/2014/main" val="1017634784"/>
                  </a:ext>
                </a:extLst>
              </a:tr>
              <a:tr h="1330399">
                <a:tc>
                  <a:txBody>
                    <a:bodyPr/>
                    <a:lstStyle/>
                    <a:p>
                      <a:pPr algn="ctr"/>
                      <a:r>
                        <a:rPr lang="en-IN" b="1" dirty="0">
                          <a:latin typeface="Arial Black" panose="020B0A04020102020204" pitchFamily="34" charset="0"/>
                        </a:rPr>
                        <a:t>Test 3</a:t>
                      </a:r>
                      <a:endParaRPr lang="en-IN" dirty="0">
                        <a:latin typeface="Arial Black" panose="020B0A04020102020204" pitchFamily="34" charset="0"/>
                      </a:endParaRPr>
                    </a:p>
                  </a:txBody>
                  <a:tcPr anchor="ctr"/>
                </a:tc>
                <a:tc>
                  <a:txBody>
                    <a:bodyPr/>
                    <a:lstStyle/>
                    <a:p>
                      <a:pPr algn="ctr"/>
                      <a:r>
                        <a:rPr lang="en-US" dirty="0">
                          <a:latin typeface="Arial Black" panose="020B0A04020102020204" pitchFamily="34" charset="0"/>
                        </a:rPr>
                        <a:t>Student submission is </a:t>
                      </a:r>
                      <a:r>
                        <a:rPr lang="en-US" b="1" dirty="0">
                          <a:latin typeface="Arial Black" panose="020B0A04020102020204" pitchFamily="34" charset="0"/>
                        </a:rPr>
                        <a:t>completely original</a:t>
                      </a:r>
                      <a:r>
                        <a:rPr lang="en-US" dirty="0">
                          <a:latin typeface="Arial Black" panose="020B0A04020102020204" pitchFamily="34" charset="0"/>
                        </a:rPr>
                        <a:t>, with no matching content.</a:t>
                      </a:r>
                    </a:p>
                  </a:txBody>
                  <a:tcPr anchor="ctr"/>
                </a:tc>
                <a:tc>
                  <a:txBody>
                    <a:bodyPr/>
                    <a:lstStyle/>
                    <a:p>
                      <a:pPr algn="ctr"/>
                      <a:r>
                        <a:rPr lang="en-IN" dirty="0">
                          <a:latin typeface="Arial Black" panose="020B0A04020102020204" pitchFamily="34" charset="0"/>
                        </a:rPr>
                        <a:t>0%</a:t>
                      </a:r>
                    </a:p>
                  </a:txBody>
                  <a:tcPr anchor="ctr"/>
                </a:tc>
                <a:tc>
                  <a:txBody>
                    <a:bodyPr/>
                    <a:lstStyle/>
                    <a:p>
                      <a:pPr algn="ctr"/>
                      <a:r>
                        <a:rPr lang="en-IN" dirty="0">
                          <a:latin typeface="Arial Black" panose="020B0A04020102020204" pitchFamily="34" charset="0"/>
                        </a:rPr>
                        <a:t>No Plagiarism Detected</a:t>
                      </a:r>
                    </a:p>
                  </a:txBody>
                  <a:tcPr anchor="ctr"/>
                </a:tc>
                <a:extLst>
                  <a:ext uri="{0D108BD9-81ED-4DB2-BD59-A6C34878D82A}">
                    <a16:rowId xmlns:a16="http://schemas.microsoft.com/office/drawing/2014/main" val="250889144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sp>
        <p:nvSpPr>
          <p:cNvPr id="2" name="TextBox 2"/>
          <p:cNvSpPr txBox="1"/>
          <p:nvPr/>
        </p:nvSpPr>
        <p:spPr>
          <a:xfrm>
            <a:off x="3550265" y="1893108"/>
            <a:ext cx="11187470" cy="1970612"/>
          </a:xfrm>
          <a:prstGeom prst="rect">
            <a:avLst/>
          </a:prstGeom>
        </p:spPr>
        <p:txBody>
          <a:bodyPr lIns="0" tIns="0" rIns="0" bIns="0" rtlCol="0" anchor="t">
            <a:spAutoFit/>
          </a:bodyPr>
          <a:lstStyle/>
          <a:p>
            <a:pPr algn="ctr">
              <a:lnSpc>
                <a:spcPts val="7333"/>
              </a:lnSpc>
            </a:pPr>
            <a:r>
              <a:rPr lang="en-US" sz="9166" b="1">
                <a:solidFill>
                  <a:srgbClr val="252930"/>
                </a:solidFill>
                <a:latin typeface="Maven Pro Bold"/>
                <a:ea typeface="Maven Pro Bold"/>
                <a:cs typeface="Maven Pro Bold"/>
                <a:sym typeface="Maven Pro Bold"/>
              </a:rPr>
              <a:t>IMPLEMENTATION IN CODE</a:t>
            </a:r>
          </a:p>
        </p:txBody>
      </p:sp>
      <p:sp>
        <p:nvSpPr>
          <p:cNvPr id="3" name="Freeform 3"/>
          <p:cNvSpPr/>
          <p:nvPr/>
        </p:nvSpPr>
        <p:spPr>
          <a:xfrm>
            <a:off x="14354175" y="-123825"/>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252838" y="6254531"/>
            <a:ext cx="4114800" cy="41148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1804562" y="3924300"/>
            <a:ext cx="15598822" cy="3312007"/>
          </a:xfrm>
          <a:prstGeom prst="rect">
            <a:avLst/>
          </a:prstGeom>
        </p:spPr>
        <p:txBody>
          <a:bodyPr lIns="0" tIns="0" rIns="0" bIns="0" rtlCol="0" anchor="t">
            <a:spAutoFit/>
          </a:bodyPr>
          <a:lstStyle/>
          <a:p>
            <a:pPr marL="672813" lvl="1" indent="-336406" algn="just">
              <a:lnSpc>
                <a:spcPts val="4362"/>
              </a:lnSpc>
              <a:buFont typeface="Arial"/>
              <a:buChar char="•"/>
            </a:pPr>
            <a:r>
              <a:rPr lang="en-US" sz="3116">
                <a:solidFill>
                  <a:srgbClr val="252930"/>
                </a:solidFill>
                <a:latin typeface="Maven Pro"/>
                <a:ea typeface="Maven Pro"/>
                <a:cs typeface="Maven Pro"/>
                <a:sym typeface="Maven Pro"/>
              </a:rPr>
              <a:t>Implementation File:</a:t>
            </a:r>
          </a:p>
          <a:p>
            <a:pPr marL="672813" lvl="1" indent="-336406" algn="just">
              <a:lnSpc>
                <a:spcPts val="4362"/>
              </a:lnSpc>
              <a:buFont typeface="Arial"/>
              <a:buChar char="•"/>
            </a:pPr>
            <a:r>
              <a:rPr lang="en-US" sz="3116">
                <a:solidFill>
                  <a:srgbClr val="252930"/>
                </a:solidFill>
                <a:latin typeface="Maven Pro"/>
                <a:ea typeface="Maven Pro"/>
                <a:cs typeface="Maven Pro"/>
                <a:sym typeface="Maven Pro"/>
              </a:rPr>
              <a:t>The full code implementation is provided separately as a C++ source file.</a:t>
            </a:r>
          </a:p>
          <a:p>
            <a:pPr marL="672813" lvl="1" indent="-336406" algn="just">
              <a:lnSpc>
                <a:spcPts val="4362"/>
              </a:lnSpc>
              <a:buFont typeface="Arial"/>
              <a:buChar char="•"/>
            </a:pPr>
            <a:r>
              <a:rPr lang="en-US" sz="3116">
                <a:solidFill>
                  <a:srgbClr val="252930"/>
                </a:solidFill>
                <a:latin typeface="Maven Pro"/>
                <a:ea typeface="Maven Pro"/>
                <a:cs typeface="Maven Pro"/>
                <a:sym typeface="Maven Pro"/>
              </a:rPr>
              <a:t>The program reads input files, applies the KMP algorithm, and computes plagiarism similarity scores.</a:t>
            </a:r>
          </a:p>
          <a:p>
            <a:pPr marL="672813" lvl="1" indent="-336406" algn="just">
              <a:lnSpc>
                <a:spcPts val="4362"/>
              </a:lnSpc>
              <a:buFont typeface="Arial"/>
              <a:buChar char="•"/>
            </a:pPr>
            <a:r>
              <a:rPr lang="en-US" sz="3116">
                <a:solidFill>
                  <a:srgbClr val="252930"/>
                </a:solidFill>
                <a:latin typeface="Maven Pro"/>
                <a:ea typeface="Maven Pro"/>
                <a:cs typeface="Maven Pro"/>
                <a:sym typeface="Maven Pro"/>
              </a:rPr>
              <a:t>Efficient text matching ensures accurate plagiarism detection.</a:t>
            </a:r>
          </a:p>
          <a:p>
            <a:pPr algn="just">
              <a:lnSpc>
                <a:spcPts val="4362"/>
              </a:lnSpc>
            </a:pPr>
            <a:endParaRPr lang="en-US" sz="3116">
              <a:solidFill>
                <a:srgbClr val="252930"/>
              </a:solidFill>
              <a:latin typeface="Maven Pro"/>
              <a:ea typeface="Maven Pro"/>
              <a:cs typeface="Maven Pro"/>
              <a:sym typeface="Maven Pr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a:extLst>
            <a:ext uri="{FF2B5EF4-FFF2-40B4-BE49-F238E27FC236}">
              <a16:creationId xmlns:a16="http://schemas.microsoft.com/office/drawing/2014/main" id="{B1F2D215-1688-3A75-26BD-7D23F7AAE03E}"/>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E108443F-F4B4-5460-3F43-69494C1091A1}"/>
              </a:ext>
            </a:extLst>
          </p:cNvPr>
          <p:cNvSpPr txBox="1"/>
          <p:nvPr/>
        </p:nvSpPr>
        <p:spPr>
          <a:xfrm>
            <a:off x="152400" y="622563"/>
            <a:ext cx="11187470" cy="1890389"/>
          </a:xfrm>
          <a:prstGeom prst="rect">
            <a:avLst/>
          </a:prstGeom>
        </p:spPr>
        <p:txBody>
          <a:bodyPr lIns="0" tIns="0" rIns="0" bIns="0" rtlCol="0" anchor="t">
            <a:spAutoFit/>
          </a:bodyPr>
          <a:lstStyle/>
          <a:p>
            <a:pPr algn="ctr">
              <a:lnSpc>
                <a:spcPts val="7333"/>
              </a:lnSpc>
            </a:pPr>
            <a:r>
              <a:rPr lang="en-US" sz="9166" b="1" dirty="0">
                <a:solidFill>
                  <a:srgbClr val="252930"/>
                </a:solidFill>
                <a:latin typeface="Maven Pro Bold"/>
                <a:ea typeface="Maven Pro Bold"/>
                <a:cs typeface="Maven Pro Bold"/>
                <a:sym typeface="Maven Pro Bold"/>
              </a:rPr>
              <a:t>TIME COMPLEXITY OF CODE</a:t>
            </a:r>
          </a:p>
        </p:txBody>
      </p:sp>
      <p:sp>
        <p:nvSpPr>
          <p:cNvPr id="3" name="Freeform 3">
            <a:extLst>
              <a:ext uri="{FF2B5EF4-FFF2-40B4-BE49-F238E27FC236}">
                <a16:creationId xmlns:a16="http://schemas.microsoft.com/office/drawing/2014/main" id="{7F0FFC74-CB1D-FDF0-52DB-5A889BD2415D}"/>
              </a:ext>
            </a:extLst>
          </p:cNvPr>
          <p:cNvSpPr/>
          <p:nvPr/>
        </p:nvSpPr>
        <p:spPr>
          <a:xfrm>
            <a:off x="14354175" y="-123825"/>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a:extLst>
              <a:ext uri="{FF2B5EF4-FFF2-40B4-BE49-F238E27FC236}">
                <a16:creationId xmlns:a16="http://schemas.microsoft.com/office/drawing/2014/main" id="{13A70A36-5131-B728-0F99-B6C447967AB9}"/>
              </a:ext>
            </a:extLst>
          </p:cNvPr>
          <p:cNvSpPr/>
          <p:nvPr/>
        </p:nvSpPr>
        <p:spPr>
          <a:xfrm flipH="1" flipV="1">
            <a:off x="-252838" y="6254531"/>
            <a:ext cx="4114800" cy="4114800"/>
          </a:xfrm>
          <a:custGeom>
            <a:avLst/>
            <a:gdLst/>
            <a:ahLst/>
            <a:cxnLst/>
            <a:rect l="l" t="t" r="r" b="b"/>
            <a:pathLst>
              <a:path w="4114800" h="4114800">
                <a:moveTo>
                  <a:pt x="4114800" y="4114800"/>
                </a:moveTo>
                <a:lnTo>
                  <a:pt x="0" y="4114800"/>
                </a:lnTo>
                <a:lnTo>
                  <a:pt x="0" y="0"/>
                </a:lnTo>
                <a:lnTo>
                  <a:pt x="4114800" y="0"/>
                </a:lnTo>
                <a:lnTo>
                  <a:pt x="411480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TextBox 5">
            <a:extLst>
              <a:ext uri="{FF2B5EF4-FFF2-40B4-BE49-F238E27FC236}">
                <a16:creationId xmlns:a16="http://schemas.microsoft.com/office/drawing/2014/main" id="{A1B1AD4B-301F-44F6-07A2-747800C9A206}"/>
              </a:ext>
            </a:extLst>
          </p:cNvPr>
          <p:cNvSpPr txBox="1"/>
          <p:nvPr/>
        </p:nvSpPr>
        <p:spPr>
          <a:xfrm>
            <a:off x="169606" y="2334355"/>
            <a:ext cx="9448800" cy="5018553"/>
          </a:xfrm>
          <a:prstGeom prst="rect">
            <a:avLst/>
          </a:prstGeom>
        </p:spPr>
        <p:txBody>
          <a:bodyPr wrap="square" lIns="0" tIns="0" rIns="0" bIns="0" rtlCol="0" anchor="t">
            <a:spAutoFit/>
          </a:bodyPr>
          <a:lstStyle/>
          <a:p>
            <a:pPr marL="672813" lvl="1" indent="-336406" algn="just">
              <a:lnSpc>
                <a:spcPts val="4362"/>
              </a:lnSpc>
              <a:buFont typeface="Arial"/>
              <a:buChar char="•"/>
            </a:pPr>
            <a:r>
              <a:rPr lang="en-US" sz="2500" dirty="0"/>
              <a:t>The </a:t>
            </a:r>
            <a:r>
              <a:rPr lang="en-US" sz="2500" b="1" dirty="0"/>
              <a:t>time complexity</a:t>
            </a:r>
            <a:r>
              <a:rPr lang="en-US" sz="2500" dirty="0"/>
              <a:t> of plagiarism detection using the </a:t>
            </a:r>
            <a:r>
              <a:rPr lang="en-US" sz="2500" b="1" dirty="0"/>
              <a:t>KMP algorithm</a:t>
            </a:r>
            <a:r>
              <a:rPr lang="en-US" sz="2500" dirty="0"/>
              <a:t> is mainly influenced by reading files, computing the LPS array, and searching for matches. Reading the text takes </a:t>
            </a:r>
            <a:r>
              <a:rPr lang="en-US" sz="2500" b="1" dirty="0"/>
              <a:t>O(N)</a:t>
            </a:r>
            <a:r>
              <a:rPr lang="en-US" sz="2500" dirty="0"/>
              <a:t>, computing the LPS array takes </a:t>
            </a:r>
            <a:r>
              <a:rPr lang="en-US" sz="2500" b="1" dirty="0"/>
              <a:t>O(M)</a:t>
            </a:r>
            <a:r>
              <a:rPr lang="en-US" sz="2500" dirty="0"/>
              <a:t>, and performing the KMP search runs in </a:t>
            </a:r>
            <a:r>
              <a:rPr lang="en-US" sz="2500" b="1" dirty="0"/>
              <a:t>O(N + M)</a:t>
            </a:r>
            <a:r>
              <a:rPr lang="en-US" sz="2500" dirty="0"/>
              <a:t>. Since we compare each word in the pattern document (with </a:t>
            </a:r>
            <a:r>
              <a:rPr lang="en-US" sz="2500" b="1" dirty="0"/>
              <a:t>P</a:t>
            </a:r>
            <a:r>
              <a:rPr lang="en-US" sz="2500" dirty="0"/>
              <a:t> words) against the text, the worst-case complexity becomes </a:t>
            </a:r>
            <a:r>
              <a:rPr lang="en-US" sz="2500" b="1" dirty="0"/>
              <a:t>O(PN)</a:t>
            </a:r>
            <a:r>
              <a:rPr lang="en-US" sz="2500" dirty="0"/>
              <a:t>. This is significantly more efficient than brute force </a:t>
            </a:r>
            <a:r>
              <a:rPr lang="en-US" sz="2500" b="1" dirty="0"/>
              <a:t>O(N × M)</a:t>
            </a:r>
            <a:r>
              <a:rPr lang="en-US" sz="2500" dirty="0"/>
              <a:t>, making KMP a fast and optimized choice for plagiarism detection</a:t>
            </a:r>
            <a:endParaRPr lang="en-US" sz="2500" dirty="0">
              <a:solidFill>
                <a:srgbClr val="252930"/>
              </a:solidFill>
              <a:latin typeface="Maven Pro"/>
              <a:ea typeface="Maven Pro"/>
              <a:cs typeface="Maven Pro"/>
              <a:sym typeface="Maven Pro"/>
            </a:endParaRPr>
          </a:p>
        </p:txBody>
      </p:sp>
      <p:pic>
        <p:nvPicPr>
          <p:cNvPr id="10" name="Picture 9">
            <a:extLst>
              <a:ext uri="{FF2B5EF4-FFF2-40B4-BE49-F238E27FC236}">
                <a16:creationId xmlns:a16="http://schemas.microsoft.com/office/drawing/2014/main" id="{8FAB232B-B01A-D775-1BB1-15AE212AB5D0}"/>
              </a:ext>
            </a:extLst>
          </p:cNvPr>
          <p:cNvPicPr>
            <a:picLocks noChangeAspect="1"/>
          </p:cNvPicPr>
          <p:nvPr/>
        </p:nvPicPr>
        <p:blipFill>
          <a:blip r:embed="rId4"/>
          <a:stretch>
            <a:fillRect/>
          </a:stretch>
        </p:blipFill>
        <p:spPr>
          <a:xfrm>
            <a:off x="11307455" y="2330668"/>
            <a:ext cx="4800600" cy="2306511"/>
          </a:xfrm>
          <a:prstGeom prst="rect">
            <a:avLst/>
          </a:prstGeom>
        </p:spPr>
      </p:pic>
      <p:graphicFrame>
        <p:nvGraphicFramePr>
          <p:cNvPr id="16" name="Table 15">
            <a:extLst>
              <a:ext uri="{FF2B5EF4-FFF2-40B4-BE49-F238E27FC236}">
                <a16:creationId xmlns:a16="http://schemas.microsoft.com/office/drawing/2014/main" id="{152E8384-B591-7E21-CDF2-D3AEF8CE926E}"/>
              </a:ext>
            </a:extLst>
          </p:cNvPr>
          <p:cNvGraphicFramePr>
            <a:graphicFrameLocks noGrp="1"/>
          </p:cNvGraphicFramePr>
          <p:nvPr>
            <p:extLst>
              <p:ext uri="{D42A27DB-BD31-4B8C-83A1-F6EECF244321}">
                <p14:modId xmlns:p14="http://schemas.microsoft.com/office/powerpoint/2010/main" val="3396695342"/>
              </p:ext>
            </p:extLst>
          </p:nvPr>
        </p:nvGraphicFramePr>
        <p:xfrm>
          <a:off x="11005118" y="5327431"/>
          <a:ext cx="6698114" cy="1854200"/>
        </p:xfrm>
        <a:graphic>
          <a:graphicData uri="http://schemas.openxmlformats.org/drawingml/2006/table">
            <a:tbl>
              <a:tblPr firstRow="1" bandRow="1">
                <a:tableStyleId>{5202B0CA-FC54-4496-8BCA-5EF66A818D29}</a:tableStyleId>
              </a:tblPr>
              <a:tblGrid>
                <a:gridCol w="3349057">
                  <a:extLst>
                    <a:ext uri="{9D8B030D-6E8A-4147-A177-3AD203B41FA5}">
                      <a16:colId xmlns:a16="http://schemas.microsoft.com/office/drawing/2014/main" val="1408226912"/>
                    </a:ext>
                  </a:extLst>
                </a:gridCol>
                <a:gridCol w="3349057">
                  <a:extLst>
                    <a:ext uri="{9D8B030D-6E8A-4147-A177-3AD203B41FA5}">
                      <a16:colId xmlns:a16="http://schemas.microsoft.com/office/drawing/2014/main" val="2918732574"/>
                    </a:ext>
                  </a:extLst>
                </a:gridCol>
              </a:tblGrid>
              <a:tr h="370840">
                <a:tc>
                  <a:txBody>
                    <a:bodyPr/>
                    <a:lstStyle/>
                    <a:p>
                      <a:pPr algn="ctr"/>
                      <a:r>
                        <a:rPr lang="en-US" dirty="0"/>
                        <a:t>Function</a:t>
                      </a:r>
                      <a:endParaRPr lang="en-IN" dirty="0"/>
                    </a:p>
                  </a:txBody>
                  <a:tcPr/>
                </a:tc>
                <a:tc>
                  <a:txBody>
                    <a:bodyPr/>
                    <a:lstStyle/>
                    <a:p>
                      <a:pPr algn="ctr"/>
                      <a:r>
                        <a:rPr lang="en-US" dirty="0"/>
                        <a:t>Time Complexity</a:t>
                      </a:r>
                    </a:p>
                  </a:txBody>
                  <a:tcPr/>
                </a:tc>
                <a:extLst>
                  <a:ext uri="{0D108BD9-81ED-4DB2-BD59-A6C34878D82A}">
                    <a16:rowId xmlns:a16="http://schemas.microsoft.com/office/drawing/2014/main" val="3417926907"/>
                  </a:ext>
                </a:extLst>
              </a:tr>
              <a:tr h="370840">
                <a:tc>
                  <a:txBody>
                    <a:bodyPr/>
                    <a:lstStyle/>
                    <a:p>
                      <a:r>
                        <a:rPr lang="en-US" dirty="0"/>
                        <a:t>read_file()</a:t>
                      </a:r>
                      <a:endParaRPr lang="en-IN" dirty="0"/>
                    </a:p>
                  </a:txBody>
                  <a:tcPr/>
                </a:tc>
                <a:tc>
                  <a:txBody>
                    <a:bodyPr/>
                    <a:lstStyle/>
                    <a:p>
                      <a:r>
                        <a:rPr lang="en-US" dirty="0"/>
                        <a:t>O(N)</a:t>
                      </a:r>
                    </a:p>
                  </a:txBody>
                  <a:tcPr/>
                </a:tc>
                <a:extLst>
                  <a:ext uri="{0D108BD9-81ED-4DB2-BD59-A6C34878D82A}">
                    <a16:rowId xmlns:a16="http://schemas.microsoft.com/office/drawing/2014/main" val="704172928"/>
                  </a:ext>
                </a:extLst>
              </a:tr>
              <a:tr h="370840">
                <a:tc>
                  <a:txBody>
                    <a:bodyPr/>
                    <a:lstStyle/>
                    <a:p>
                      <a:r>
                        <a:rPr lang="en-US" dirty="0"/>
                        <a:t>compute_lps()</a:t>
                      </a:r>
                      <a:endParaRPr lang="en-IN" dirty="0"/>
                    </a:p>
                  </a:txBody>
                  <a:tcPr/>
                </a:tc>
                <a:tc>
                  <a:txBody>
                    <a:bodyPr/>
                    <a:lstStyle/>
                    <a:p>
                      <a:r>
                        <a:rPr lang="en-US" dirty="0"/>
                        <a:t>O(M)</a:t>
                      </a:r>
                    </a:p>
                  </a:txBody>
                  <a:tcPr/>
                </a:tc>
                <a:extLst>
                  <a:ext uri="{0D108BD9-81ED-4DB2-BD59-A6C34878D82A}">
                    <a16:rowId xmlns:a16="http://schemas.microsoft.com/office/drawing/2014/main" val="244292736"/>
                  </a:ext>
                </a:extLst>
              </a:tr>
              <a:tr h="370840">
                <a:tc>
                  <a:txBody>
                    <a:bodyPr/>
                    <a:lstStyle/>
                    <a:p>
                      <a:r>
                        <a:rPr lang="en-US" dirty="0"/>
                        <a:t>kmp_search()</a:t>
                      </a:r>
                      <a:endParaRPr lang="en-IN" dirty="0"/>
                    </a:p>
                  </a:txBody>
                  <a:tcPr/>
                </a:tc>
                <a:tc>
                  <a:txBody>
                    <a:bodyPr/>
                    <a:lstStyle/>
                    <a:p>
                      <a:r>
                        <a:rPr lang="en-US" dirty="0"/>
                        <a:t>O(N+M)</a:t>
                      </a:r>
                      <a:endParaRPr lang="en-IN" dirty="0"/>
                    </a:p>
                  </a:txBody>
                  <a:tcPr/>
                </a:tc>
                <a:extLst>
                  <a:ext uri="{0D108BD9-81ED-4DB2-BD59-A6C34878D82A}">
                    <a16:rowId xmlns:a16="http://schemas.microsoft.com/office/drawing/2014/main" val="3150127143"/>
                  </a:ext>
                </a:extLst>
              </a:tr>
              <a:tr h="370840">
                <a:tc>
                  <a:txBody>
                    <a:bodyPr/>
                    <a:lstStyle/>
                    <a:p>
                      <a:r>
                        <a:rPr lang="en-US" dirty="0"/>
                        <a:t>compute_similarity()</a:t>
                      </a:r>
                      <a:endParaRPr lang="en-IN" dirty="0"/>
                    </a:p>
                  </a:txBody>
                  <a:tcPr/>
                </a:tc>
                <a:tc>
                  <a:txBody>
                    <a:bodyPr/>
                    <a:lstStyle/>
                    <a:p>
                      <a:r>
                        <a:rPr lang="en-US" dirty="0"/>
                        <a:t>O(PN)</a:t>
                      </a:r>
                      <a:endParaRPr lang="en-IN" dirty="0"/>
                    </a:p>
                  </a:txBody>
                  <a:tcPr/>
                </a:tc>
                <a:extLst>
                  <a:ext uri="{0D108BD9-81ED-4DB2-BD59-A6C34878D82A}">
                    <a16:rowId xmlns:a16="http://schemas.microsoft.com/office/drawing/2014/main" val="1778439636"/>
                  </a:ext>
                </a:extLst>
              </a:tr>
            </a:tbl>
          </a:graphicData>
        </a:graphic>
      </p:graphicFrame>
      <p:sp>
        <p:nvSpPr>
          <p:cNvPr id="17" name="TextBox 16">
            <a:extLst>
              <a:ext uri="{FF2B5EF4-FFF2-40B4-BE49-F238E27FC236}">
                <a16:creationId xmlns:a16="http://schemas.microsoft.com/office/drawing/2014/main" id="{CEEC1F2B-39B4-897D-B465-1B43E2A0D420}"/>
              </a:ext>
            </a:extLst>
          </p:cNvPr>
          <p:cNvSpPr txBox="1"/>
          <p:nvPr/>
        </p:nvSpPr>
        <p:spPr>
          <a:xfrm>
            <a:off x="8110691" y="7451658"/>
            <a:ext cx="10358284" cy="2631490"/>
          </a:xfrm>
          <a:prstGeom prst="rect">
            <a:avLst/>
          </a:prstGeom>
          <a:noFill/>
        </p:spPr>
        <p:txBody>
          <a:bodyPr wrap="square" rtlCol="0">
            <a:spAutoFit/>
          </a:bodyPr>
          <a:lstStyle/>
          <a:p>
            <a:pPr>
              <a:buFont typeface="Arial" panose="020B0604020202020204" pitchFamily="34" charset="0"/>
              <a:buChar char="•"/>
            </a:pPr>
            <a:r>
              <a:rPr lang="en-US" sz="2000" b="1" dirty="0"/>
              <a:t>N</a:t>
            </a:r>
            <a:r>
              <a:rPr lang="en-US" sz="2000" dirty="0"/>
              <a:t> → Length of the </a:t>
            </a:r>
            <a:r>
              <a:rPr lang="en-US" sz="2000" b="1" dirty="0"/>
              <a:t>text document</a:t>
            </a:r>
            <a:r>
              <a:rPr lang="en-US" sz="2000" dirty="0"/>
              <a:t> (main file content).</a:t>
            </a:r>
          </a:p>
          <a:p>
            <a:endParaRPr lang="en-US" sz="2000" dirty="0"/>
          </a:p>
          <a:p>
            <a:pPr>
              <a:buFont typeface="Arial" panose="020B0604020202020204" pitchFamily="34" charset="0"/>
              <a:buChar char="•"/>
            </a:pPr>
            <a:r>
              <a:rPr lang="en-US" sz="2000" b="1" dirty="0"/>
              <a:t>M</a:t>
            </a:r>
            <a:r>
              <a:rPr lang="en-US" sz="2000" dirty="0"/>
              <a:t> → Length of the </a:t>
            </a:r>
            <a:r>
              <a:rPr lang="en-US" sz="2000" b="1" dirty="0"/>
              <a:t>pattern (query) document</a:t>
            </a:r>
            <a:r>
              <a:rPr lang="en-US" sz="2000" dirty="0"/>
              <a:t> (plagiarism-check file).</a:t>
            </a:r>
          </a:p>
          <a:p>
            <a:endParaRPr lang="en-US" sz="2000" dirty="0"/>
          </a:p>
          <a:p>
            <a:pPr>
              <a:buFont typeface="Arial" panose="020B0604020202020204" pitchFamily="34" charset="0"/>
              <a:buChar char="•"/>
            </a:pPr>
            <a:r>
              <a:rPr lang="en-US" sz="2000" b="1" dirty="0"/>
              <a:t>P</a:t>
            </a:r>
            <a:r>
              <a:rPr lang="en-US" sz="2000" dirty="0"/>
              <a:t> → Number of </a:t>
            </a:r>
            <a:r>
              <a:rPr lang="en-US" sz="2000" b="1" dirty="0"/>
              <a:t>words</a:t>
            </a:r>
            <a:r>
              <a:rPr lang="en-US" sz="2000" dirty="0"/>
              <a:t> in the pattern document.</a:t>
            </a:r>
          </a:p>
          <a:p>
            <a:endParaRPr lang="en-US" sz="2000" dirty="0"/>
          </a:p>
          <a:p>
            <a:r>
              <a:rPr lang="en-US" sz="2000" dirty="0"/>
              <a:t>Thus, </a:t>
            </a:r>
            <a:r>
              <a:rPr lang="en-US" sz="2000" b="1" dirty="0"/>
              <a:t>O(PN)</a:t>
            </a:r>
            <a:r>
              <a:rPr lang="en-US" sz="2000" dirty="0"/>
              <a:t> comes from checking each </a:t>
            </a:r>
            <a:r>
              <a:rPr lang="en-US" sz="2000" b="1" dirty="0"/>
              <a:t>P words</a:t>
            </a:r>
            <a:r>
              <a:rPr lang="en-US" sz="2000" dirty="0"/>
              <a:t> in the pattern against the entire </a:t>
            </a:r>
            <a:r>
              <a:rPr lang="en-US" sz="2000" b="1" dirty="0"/>
              <a:t>N-length text</a:t>
            </a:r>
            <a:r>
              <a:rPr lang="en-US" sz="2000" dirty="0"/>
              <a:t> using </a:t>
            </a:r>
            <a:r>
              <a:rPr lang="en-US" sz="2000" b="1" dirty="0"/>
              <a:t>KMP (O(N + M))</a:t>
            </a:r>
            <a:r>
              <a:rPr lang="en-US" sz="2000" dirty="0"/>
              <a:t>, leading to </a:t>
            </a:r>
            <a:r>
              <a:rPr lang="en-US" sz="2000" b="1" dirty="0"/>
              <a:t>O(PN)</a:t>
            </a:r>
            <a:r>
              <a:rPr lang="en-US" sz="2000" dirty="0"/>
              <a:t> in the worst case</a:t>
            </a:r>
            <a:r>
              <a:rPr lang="en-US" sz="2500" dirty="0"/>
              <a:t>.</a:t>
            </a:r>
          </a:p>
        </p:txBody>
      </p:sp>
      <p:graphicFrame>
        <p:nvGraphicFramePr>
          <p:cNvPr id="18" name="Table 17">
            <a:extLst>
              <a:ext uri="{FF2B5EF4-FFF2-40B4-BE49-F238E27FC236}">
                <a16:creationId xmlns:a16="http://schemas.microsoft.com/office/drawing/2014/main" id="{EE9ABBA9-FC9C-D63A-5BE1-AB98A8FFC08A}"/>
              </a:ext>
            </a:extLst>
          </p:cNvPr>
          <p:cNvGraphicFramePr>
            <a:graphicFrameLocks noGrp="1"/>
          </p:cNvGraphicFramePr>
          <p:nvPr/>
        </p:nvGraphicFramePr>
        <p:xfrm>
          <a:off x="8111613" y="7300452"/>
          <a:ext cx="10073148" cy="2816942"/>
        </p:xfrm>
        <a:graphic>
          <a:graphicData uri="http://schemas.openxmlformats.org/drawingml/2006/table">
            <a:tbl>
              <a:tblPr/>
              <a:tblGrid>
                <a:gridCol w="10073148">
                  <a:extLst>
                    <a:ext uri="{9D8B030D-6E8A-4147-A177-3AD203B41FA5}">
                      <a16:colId xmlns:a16="http://schemas.microsoft.com/office/drawing/2014/main" val="3927048181"/>
                    </a:ext>
                  </a:extLst>
                </a:gridCol>
              </a:tblGrid>
              <a:tr h="2816942">
                <a:tc>
                  <a:txBody>
                    <a:bodyPr/>
                    <a:lstStyle/>
                    <a:p>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972511119"/>
                  </a:ext>
                </a:extLst>
              </a:tr>
            </a:tbl>
          </a:graphicData>
        </a:graphic>
      </p:graphicFrame>
    </p:spTree>
    <p:extLst>
      <p:ext uri="{BB962C8B-B14F-4D97-AF65-F5344CB8AC3E}">
        <p14:creationId xmlns:p14="http://schemas.microsoft.com/office/powerpoint/2010/main" val="13432818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grpSp>
        <p:nvGrpSpPr>
          <p:cNvPr id="2" name="Group 2"/>
          <p:cNvGrpSpPr/>
          <p:nvPr/>
        </p:nvGrpSpPr>
        <p:grpSpPr>
          <a:xfrm>
            <a:off x="1028700" y="2851464"/>
            <a:ext cx="16230600" cy="3305388"/>
            <a:chOff x="0" y="0"/>
            <a:chExt cx="4274726" cy="870555"/>
          </a:xfrm>
        </p:grpSpPr>
        <p:sp>
          <p:nvSpPr>
            <p:cNvPr id="3" name="Freeform 3"/>
            <p:cNvSpPr/>
            <p:nvPr/>
          </p:nvSpPr>
          <p:spPr>
            <a:xfrm>
              <a:off x="0" y="0"/>
              <a:ext cx="4274726" cy="870555"/>
            </a:xfrm>
            <a:custGeom>
              <a:avLst/>
              <a:gdLst/>
              <a:ahLst/>
              <a:cxnLst/>
              <a:rect l="l" t="t" r="r" b="b"/>
              <a:pathLst>
                <a:path w="4274726" h="870555">
                  <a:moveTo>
                    <a:pt x="24327" y="0"/>
                  </a:moveTo>
                  <a:lnTo>
                    <a:pt x="4250399" y="0"/>
                  </a:lnTo>
                  <a:cubicBezTo>
                    <a:pt x="4263834" y="0"/>
                    <a:pt x="4274726" y="10891"/>
                    <a:pt x="4274726" y="24327"/>
                  </a:cubicBezTo>
                  <a:lnTo>
                    <a:pt x="4274726" y="846228"/>
                  </a:lnTo>
                  <a:cubicBezTo>
                    <a:pt x="4274726" y="852680"/>
                    <a:pt x="4272163" y="858868"/>
                    <a:pt x="4267601" y="863430"/>
                  </a:cubicBezTo>
                  <a:cubicBezTo>
                    <a:pt x="4263039" y="867992"/>
                    <a:pt x="4256851" y="870555"/>
                    <a:pt x="4250399" y="870555"/>
                  </a:cubicBezTo>
                  <a:lnTo>
                    <a:pt x="24327" y="870555"/>
                  </a:lnTo>
                  <a:cubicBezTo>
                    <a:pt x="10891" y="870555"/>
                    <a:pt x="0" y="859664"/>
                    <a:pt x="0" y="846228"/>
                  </a:cubicBezTo>
                  <a:lnTo>
                    <a:pt x="0" y="24327"/>
                  </a:lnTo>
                  <a:cubicBezTo>
                    <a:pt x="0" y="10891"/>
                    <a:pt x="10891" y="0"/>
                    <a:pt x="24327" y="0"/>
                  </a:cubicBezTo>
                  <a:close/>
                </a:path>
              </a:pathLst>
            </a:custGeom>
            <a:solidFill>
              <a:srgbClr val="C0B3A0">
                <a:alpha val="53725"/>
              </a:srgbClr>
            </a:solidFill>
          </p:spPr>
        </p:sp>
        <p:sp>
          <p:nvSpPr>
            <p:cNvPr id="4" name="TextBox 4"/>
            <p:cNvSpPr txBox="1"/>
            <p:nvPr/>
          </p:nvSpPr>
          <p:spPr>
            <a:xfrm>
              <a:off x="0" y="-38100"/>
              <a:ext cx="4274726" cy="908655"/>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1345602" y="3170046"/>
            <a:ext cx="15536127" cy="2660691"/>
          </a:xfrm>
          <a:prstGeom prst="rect">
            <a:avLst/>
          </a:prstGeom>
        </p:spPr>
        <p:txBody>
          <a:bodyPr lIns="0" tIns="0" rIns="0" bIns="0" rtlCol="0" anchor="t">
            <a:spAutoFit/>
          </a:bodyPr>
          <a:lstStyle/>
          <a:p>
            <a:pPr algn="just">
              <a:lnSpc>
                <a:spcPts val="3037"/>
              </a:lnSpc>
            </a:pPr>
            <a:r>
              <a:rPr lang="en-US" sz="2169" b="1">
                <a:solidFill>
                  <a:srgbClr val="252D37"/>
                </a:solidFill>
                <a:latin typeface="Maven Pro Bold"/>
                <a:ea typeface="Maven Pro Bold"/>
                <a:cs typeface="Maven Pro Bold"/>
                <a:sym typeface="Maven Pro Bold"/>
              </a:rPr>
              <a:t>Conclusion :</a:t>
            </a:r>
          </a:p>
          <a:p>
            <a:pPr marL="468429" lvl="1" indent="-234214" algn="just">
              <a:lnSpc>
                <a:spcPts val="3037"/>
              </a:lnSpc>
              <a:buFont typeface="Arial"/>
              <a:buChar char="•"/>
            </a:pPr>
            <a:r>
              <a:rPr lang="en-US" sz="2169">
                <a:solidFill>
                  <a:srgbClr val="252D37"/>
                </a:solidFill>
                <a:latin typeface="Maven Pro"/>
                <a:ea typeface="Maven Pro"/>
                <a:cs typeface="Maven Pro"/>
                <a:sym typeface="Maven Pro"/>
              </a:rPr>
              <a:t>Plagiarism detection is a crucial aspect of maintaining academic and professional integrity. The KMP algorithm, with its efficient pattern-matching capability, provides a strong foundation for detecting exact matches in documents. However, it faces limitations when dealing with complex plagiarism techniques like paraphrasing and synonym substitution. While KMP is effective in identifying direct text duplications, advanced techniques involving AI and natural language processing (NLP) are required for a more comprehensive detection system.</a:t>
            </a:r>
          </a:p>
          <a:p>
            <a:pPr algn="just">
              <a:lnSpc>
                <a:spcPts val="3037"/>
              </a:lnSpc>
            </a:pPr>
            <a:endParaRPr lang="en-US" sz="2169">
              <a:solidFill>
                <a:srgbClr val="252D37"/>
              </a:solidFill>
              <a:latin typeface="Maven Pro"/>
              <a:ea typeface="Maven Pro"/>
              <a:cs typeface="Maven Pro"/>
              <a:sym typeface="Maven Pro"/>
            </a:endParaRPr>
          </a:p>
        </p:txBody>
      </p:sp>
      <p:sp>
        <p:nvSpPr>
          <p:cNvPr id="6" name="TextBox 6"/>
          <p:cNvSpPr txBox="1"/>
          <p:nvPr/>
        </p:nvSpPr>
        <p:spPr>
          <a:xfrm>
            <a:off x="1028700" y="1603459"/>
            <a:ext cx="16230600" cy="833594"/>
          </a:xfrm>
          <a:prstGeom prst="rect">
            <a:avLst/>
          </a:prstGeom>
        </p:spPr>
        <p:txBody>
          <a:bodyPr lIns="0" tIns="0" rIns="0" bIns="0" rtlCol="0" anchor="t">
            <a:spAutoFit/>
          </a:bodyPr>
          <a:lstStyle/>
          <a:p>
            <a:pPr algn="ctr">
              <a:lnSpc>
                <a:spcPts val="5777"/>
              </a:lnSpc>
            </a:pPr>
            <a:r>
              <a:rPr lang="en-US" sz="7221" b="1">
                <a:solidFill>
                  <a:srgbClr val="252D37"/>
                </a:solidFill>
                <a:latin typeface="Maven Pro Bold"/>
                <a:ea typeface="Maven Pro Bold"/>
                <a:cs typeface="Maven Pro Bold"/>
                <a:sym typeface="Maven Pro Bold"/>
              </a:rPr>
              <a:t>CONCLUSION &amp; FUTURE SCOPE</a:t>
            </a:r>
          </a:p>
        </p:txBody>
      </p:sp>
      <p:grpSp>
        <p:nvGrpSpPr>
          <p:cNvPr id="7" name="Group 7"/>
          <p:cNvGrpSpPr/>
          <p:nvPr/>
        </p:nvGrpSpPr>
        <p:grpSpPr>
          <a:xfrm>
            <a:off x="1088132" y="6357512"/>
            <a:ext cx="16171168" cy="3398876"/>
            <a:chOff x="0" y="0"/>
            <a:chExt cx="4259073" cy="895177"/>
          </a:xfrm>
        </p:grpSpPr>
        <p:sp>
          <p:nvSpPr>
            <p:cNvPr id="8" name="Freeform 8"/>
            <p:cNvSpPr/>
            <p:nvPr/>
          </p:nvSpPr>
          <p:spPr>
            <a:xfrm>
              <a:off x="0" y="0"/>
              <a:ext cx="4259073" cy="895177"/>
            </a:xfrm>
            <a:custGeom>
              <a:avLst/>
              <a:gdLst/>
              <a:ahLst/>
              <a:cxnLst/>
              <a:rect l="l" t="t" r="r" b="b"/>
              <a:pathLst>
                <a:path w="4259073" h="895177">
                  <a:moveTo>
                    <a:pt x="24416" y="0"/>
                  </a:moveTo>
                  <a:lnTo>
                    <a:pt x="4234657" y="0"/>
                  </a:lnTo>
                  <a:cubicBezTo>
                    <a:pt x="4248141" y="0"/>
                    <a:pt x="4259073" y="10931"/>
                    <a:pt x="4259073" y="24416"/>
                  </a:cubicBezTo>
                  <a:lnTo>
                    <a:pt x="4259073" y="870761"/>
                  </a:lnTo>
                  <a:cubicBezTo>
                    <a:pt x="4259073" y="884246"/>
                    <a:pt x="4248141" y="895177"/>
                    <a:pt x="4234657" y="895177"/>
                  </a:cubicBezTo>
                  <a:lnTo>
                    <a:pt x="24416" y="895177"/>
                  </a:lnTo>
                  <a:cubicBezTo>
                    <a:pt x="10931" y="895177"/>
                    <a:pt x="0" y="884246"/>
                    <a:pt x="0" y="870761"/>
                  </a:cubicBezTo>
                  <a:lnTo>
                    <a:pt x="0" y="24416"/>
                  </a:lnTo>
                  <a:cubicBezTo>
                    <a:pt x="0" y="10931"/>
                    <a:pt x="10931" y="0"/>
                    <a:pt x="24416" y="0"/>
                  </a:cubicBezTo>
                  <a:close/>
                </a:path>
              </a:pathLst>
            </a:custGeom>
            <a:solidFill>
              <a:srgbClr val="C0B3A0">
                <a:alpha val="53725"/>
              </a:srgbClr>
            </a:solidFill>
          </p:spPr>
        </p:sp>
        <p:sp>
          <p:nvSpPr>
            <p:cNvPr id="9" name="TextBox 9"/>
            <p:cNvSpPr txBox="1"/>
            <p:nvPr/>
          </p:nvSpPr>
          <p:spPr>
            <a:xfrm>
              <a:off x="0" y="-38100"/>
              <a:ext cx="4259073" cy="933277"/>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1345602" y="6628356"/>
            <a:ext cx="14555539" cy="2800037"/>
          </a:xfrm>
          <a:prstGeom prst="rect">
            <a:avLst/>
          </a:prstGeom>
        </p:spPr>
        <p:txBody>
          <a:bodyPr lIns="0" tIns="0" rIns="0" bIns="0" rtlCol="0" anchor="t">
            <a:spAutoFit/>
          </a:bodyPr>
          <a:lstStyle/>
          <a:p>
            <a:pPr algn="just">
              <a:lnSpc>
                <a:spcPts val="3167"/>
              </a:lnSpc>
            </a:pPr>
            <a:r>
              <a:rPr lang="en-US" sz="2262" b="1">
                <a:solidFill>
                  <a:srgbClr val="252D37"/>
                </a:solidFill>
                <a:latin typeface="Maven Pro Bold"/>
                <a:ea typeface="Maven Pro Bold"/>
                <a:cs typeface="Maven Pro Bold"/>
                <a:sym typeface="Maven Pro Bold"/>
              </a:rPr>
              <a:t>Future Scope:</a:t>
            </a:r>
          </a:p>
          <a:p>
            <a:pPr marL="488437" lvl="1" indent="-244219" algn="just">
              <a:lnSpc>
                <a:spcPts val="3167"/>
              </a:lnSpc>
              <a:buFont typeface="Arial"/>
              <a:buChar char="•"/>
            </a:pPr>
            <a:r>
              <a:rPr lang="en-US" sz="2262">
                <a:solidFill>
                  <a:srgbClr val="252D37"/>
                </a:solidFill>
                <a:latin typeface="Maven Pro"/>
                <a:ea typeface="Maven Pro"/>
                <a:cs typeface="Maven Pro"/>
                <a:sym typeface="Maven Pro"/>
              </a:rPr>
              <a:t>Handling Paraphrasing &amp; Synonym Recognition – Future advancements can integrate NLP techniques, such as word embeddings (Word2Vec, GloVe) or transformers (BERT, GPT), to identify meaning-based similarities rather than just exact matches.</a:t>
            </a:r>
          </a:p>
          <a:p>
            <a:pPr algn="just">
              <a:lnSpc>
                <a:spcPts val="3167"/>
              </a:lnSpc>
            </a:pPr>
            <a:endParaRPr lang="en-US" sz="2262">
              <a:solidFill>
                <a:srgbClr val="252D37"/>
              </a:solidFill>
              <a:latin typeface="Maven Pro"/>
              <a:ea typeface="Maven Pro"/>
              <a:cs typeface="Maven Pro"/>
              <a:sym typeface="Maven Pro"/>
            </a:endParaRPr>
          </a:p>
          <a:p>
            <a:pPr marL="488437" lvl="1" indent="-244219" algn="just">
              <a:lnSpc>
                <a:spcPts val="3167"/>
              </a:lnSpc>
              <a:buFont typeface="Arial"/>
              <a:buChar char="•"/>
            </a:pPr>
            <a:r>
              <a:rPr lang="en-US" sz="2262">
                <a:solidFill>
                  <a:srgbClr val="252D37"/>
                </a:solidFill>
                <a:latin typeface="Maven Pro"/>
                <a:ea typeface="Maven Pro"/>
                <a:cs typeface="Maven Pro"/>
                <a:sym typeface="Maven Pro"/>
              </a:rPr>
              <a:t>AI-Based Plagiarism Detection – Machine learning models trained on large datasets can improve the detection of subtle forms of plagiarism, including sentence restructuring and synonym replacement.</a:t>
            </a:r>
          </a:p>
        </p:txBody>
      </p:sp>
      <p:sp>
        <p:nvSpPr>
          <p:cNvPr id="11" name="Freeform 11"/>
          <p:cNvSpPr/>
          <p:nvPr/>
        </p:nvSpPr>
        <p:spPr>
          <a:xfrm flipH="1">
            <a:off x="-211950" y="-104775"/>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p:cNvSpPr/>
          <p:nvPr/>
        </p:nvSpPr>
        <p:spPr>
          <a:xfrm>
            <a:off x="1777365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3" name="Freeform 13"/>
          <p:cNvSpPr/>
          <p:nvPr/>
        </p:nvSpPr>
        <p:spPr>
          <a:xfrm>
            <a:off x="14542983" y="9077308"/>
            <a:ext cx="2716317" cy="1358159"/>
          </a:xfrm>
          <a:custGeom>
            <a:avLst/>
            <a:gdLst/>
            <a:ahLst/>
            <a:cxnLst/>
            <a:rect l="l" t="t" r="r" b="b"/>
            <a:pathLst>
              <a:path w="2716317" h="1358159">
                <a:moveTo>
                  <a:pt x="0" y="0"/>
                </a:moveTo>
                <a:lnTo>
                  <a:pt x="2716317" y="0"/>
                </a:lnTo>
                <a:lnTo>
                  <a:pt x="2716317" y="1358159"/>
                </a:lnTo>
                <a:lnTo>
                  <a:pt x="0" y="135815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sp>
        <p:nvSpPr>
          <p:cNvPr id="2" name="TextBox 2"/>
          <p:cNvSpPr txBox="1"/>
          <p:nvPr/>
        </p:nvSpPr>
        <p:spPr>
          <a:xfrm>
            <a:off x="4291361" y="1906814"/>
            <a:ext cx="9705277" cy="823095"/>
          </a:xfrm>
          <a:prstGeom prst="rect">
            <a:avLst/>
          </a:prstGeom>
        </p:spPr>
        <p:txBody>
          <a:bodyPr lIns="0" tIns="0" rIns="0" bIns="0" rtlCol="0" anchor="t">
            <a:spAutoFit/>
          </a:bodyPr>
          <a:lstStyle/>
          <a:p>
            <a:pPr algn="ctr">
              <a:lnSpc>
                <a:spcPts val="5762"/>
              </a:lnSpc>
            </a:pPr>
            <a:r>
              <a:rPr lang="en-US" sz="7202" b="1">
                <a:solidFill>
                  <a:srgbClr val="252930"/>
                </a:solidFill>
                <a:latin typeface="Maven Pro Bold"/>
                <a:ea typeface="Maven Pro Bold"/>
                <a:cs typeface="Maven Pro Bold"/>
                <a:sym typeface="Maven Pro Bold"/>
              </a:rPr>
              <a:t>PRESENTED BY</a:t>
            </a:r>
          </a:p>
        </p:txBody>
      </p:sp>
      <p:grpSp>
        <p:nvGrpSpPr>
          <p:cNvPr id="3" name="Group 3"/>
          <p:cNvGrpSpPr/>
          <p:nvPr/>
        </p:nvGrpSpPr>
        <p:grpSpPr>
          <a:xfrm>
            <a:off x="1028700" y="3045363"/>
            <a:ext cx="16230600" cy="1440796"/>
            <a:chOff x="0" y="0"/>
            <a:chExt cx="4274726" cy="379469"/>
          </a:xfrm>
        </p:grpSpPr>
        <p:sp>
          <p:nvSpPr>
            <p:cNvPr id="4" name="Freeform 4"/>
            <p:cNvSpPr/>
            <p:nvPr/>
          </p:nvSpPr>
          <p:spPr>
            <a:xfrm>
              <a:off x="0" y="0"/>
              <a:ext cx="4274726" cy="379469"/>
            </a:xfrm>
            <a:custGeom>
              <a:avLst/>
              <a:gdLst/>
              <a:ahLst/>
              <a:cxnLst/>
              <a:rect l="l" t="t" r="r" b="b"/>
              <a:pathLst>
                <a:path w="4274726" h="379469">
                  <a:moveTo>
                    <a:pt x="24327" y="0"/>
                  </a:moveTo>
                  <a:lnTo>
                    <a:pt x="4250399" y="0"/>
                  </a:lnTo>
                  <a:cubicBezTo>
                    <a:pt x="4263834" y="0"/>
                    <a:pt x="4274726" y="10891"/>
                    <a:pt x="4274726" y="24327"/>
                  </a:cubicBezTo>
                  <a:lnTo>
                    <a:pt x="4274726" y="355142"/>
                  </a:lnTo>
                  <a:cubicBezTo>
                    <a:pt x="4274726" y="368578"/>
                    <a:pt x="4263834" y="379469"/>
                    <a:pt x="4250399" y="379469"/>
                  </a:cubicBezTo>
                  <a:lnTo>
                    <a:pt x="24327" y="379469"/>
                  </a:lnTo>
                  <a:cubicBezTo>
                    <a:pt x="10891" y="379469"/>
                    <a:pt x="0" y="368578"/>
                    <a:pt x="0" y="355142"/>
                  </a:cubicBezTo>
                  <a:lnTo>
                    <a:pt x="0" y="24327"/>
                  </a:lnTo>
                  <a:cubicBezTo>
                    <a:pt x="0" y="10891"/>
                    <a:pt x="10891" y="0"/>
                    <a:pt x="24327" y="0"/>
                  </a:cubicBezTo>
                  <a:close/>
                </a:path>
              </a:pathLst>
            </a:custGeom>
            <a:solidFill>
              <a:srgbClr val="C0B3A0">
                <a:alpha val="53725"/>
              </a:srgbClr>
            </a:solidFill>
          </p:spPr>
        </p:sp>
        <p:sp>
          <p:nvSpPr>
            <p:cNvPr id="5" name="TextBox 5"/>
            <p:cNvSpPr txBox="1"/>
            <p:nvPr/>
          </p:nvSpPr>
          <p:spPr>
            <a:xfrm>
              <a:off x="0" y="-38100"/>
              <a:ext cx="4274726" cy="417569"/>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3714724" y="3194261"/>
            <a:ext cx="8691937" cy="1066800"/>
          </a:xfrm>
          <a:prstGeom prst="rect">
            <a:avLst/>
          </a:prstGeom>
        </p:spPr>
        <p:txBody>
          <a:bodyPr lIns="0" tIns="0" rIns="0" bIns="0" rtlCol="0" anchor="t">
            <a:spAutoFit/>
          </a:bodyPr>
          <a:lstStyle/>
          <a:p>
            <a:pPr algn="just">
              <a:lnSpc>
                <a:spcPts val="4200"/>
              </a:lnSpc>
            </a:pPr>
            <a:r>
              <a:rPr lang="en-US" sz="3000">
                <a:solidFill>
                  <a:srgbClr val="252930"/>
                </a:solidFill>
                <a:latin typeface="Maven Pro"/>
                <a:ea typeface="Maven Pro"/>
                <a:cs typeface="Maven Pro"/>
                <a:sym typeface="Maven Pro"/>
              </a:rPr>
              <a:t>Roll no : CB.SC.U4CSE23640</a:t>
            </a:r>
          </a:p>
          <a:p>
            <a:pPr algn="just">
              <a:lnSpc>
                <a:spcPts val="4200"/>
              </a:lnSpc>
            </a:pPr>
            <a:r>
              <a:rPr lang="en-US" sz="3000">
                <a:solidFill>
                  <a:srgbClr val="252930"/>
                </a:solidFill>
                <a:latin typeface="Maven Pro"/>
                <a:ea typeface="Maven Pro"/>
                <a:cs typeface="Maven Pro"/>
                <a:sym typeface="Maven Pro"/>
              </a:rPr>
              <a:t>NAME : P Sreeshanth Reddy</a:t>
            </a:r>
          </a:p>
        </p:txBody>
      </p:sp>
      <p:grpSp>
        <p:nvGrpSpPr>
          <p:cNvPr id="7" name="Group 7"/>
          <p:cNvGrpSpPr/>
          <p:nvPr/>
        </p:nvGrpSpPr>
        <p:grpSpPr>
          <a:xfrm>
            <a:off x="1028700" y="4694222"/>
            <a:ext cx="16230600" cy="1440796"/>
            <a:chOff x="0" y="0"/>
            <a:chExt cx="4274726" cy="379469"/>
          </a:xfrm>
        </p:grpSpPr>
        <p:sp>
          <p:nvSpPr>
            <p:cNvPr id="8" name="Freeform 8"/>
            <p:cNvSpPr/>
            <p:nvPr/>
          </p:nvSpPr>
          <p:spPr>
            <a:xfrm>
              <a:off x="0" y="0"/>
              <a:ext cx="4274726" cy="379469"/>
            </a:xfrm>
            <a:custGeom>
              <a:avLst/>
              <a:gdLst/>
              <a:ahLst/>
              <a:cxnLst/>
              <a:rect l="l" t="t" r="r" b="b"/>
              <a:pathLst>
                <a:path w="4274726" h="379469">
                  <a:moveTo>
                    <a:pt x="24327" y="0"/>
                  </a:moveTo>
                  <a:lnTo>
                    <a:pt x="4250399" y="0"/>
                  </a:lnTo>
                  <a:cubicBezTo>
                    <a:pt x="4263834" y="0"/>
                    <a:pt x="4274726" y="10891"/>
                    <a:pt x="4274726" y="24327"/>
                  </a:cubicBezTo>
                  <a:lnTo>
                    <a:pt x="4274726" y="355142"/>
                  </a:lnTo>
                  <a:cubicBezTo>
                    <a:pt x="4274726" y="368578"/>
                    <a:pt x="4263834" y="379469"/>
                    <a:pt x="4250399" y="379469"/>
                  </a:cubicBezTo>
                  <a:lnTo>
                    <a:pt x="24327" y="379469"/>
                  </a:lnTo>
                  <a:cubicBezTo>
                    <a:pt x="10891" y="379469"/>
                    <a:pt x="0" y="368578"/>
                    <a:pt x="0" y="355142"/>
                  </a:cubicBezTo>
                  <a:lnTo>
                    <a:pt x="0" y="24327"/>
                  </a:lnTo>
                  <a:cubicBezTo>
                    <a:pt x="0" y="10891"/>
                    <a:pt x="10891" y="0"/>
                    <a:pt x="24327" y="0"/>
                  </a:cubicBezTo>
                  <a:close/>
                </a:path>
              </a:pathLst>
            </a:custGeom>
            <a:solidFill>
              <a:srgbClr val="C0B3A0">
                <a:alpha val="53725"/>
              </a:srgbClr>
            </a:solidFill>
          </p:spPr>
        </p:sp>
        <p:sp>
          <p:nvSpPr>
            <p:cNvPr id="9" name="TextBox 9"/>
            <p:cNvSpPr txBox="1"/>
            <p:nvPr/>
          </p:nvSpPr>
          <p:spPr>
            <a:xfrm>
              <a:off x="0" y="-38100"/>
              <a:ext cx="4274726" cy="417569"/>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3714724" y="4843120"/>
            <a:ext cx="8691937" cy="1066800"/>
          </a:xfrm>
          <a:prstGeom prst="rect">
            <a:avLst/>
          </a:prstGeom>
        </p:spPr>
        <p:txBody>
          <a:bodyPr lIns="0" tIns="0" rIns="0" bIns="0" rtlCol="0" anchor="t">
            <a:spAutoFit/>
          </a:bodyPr>
          <a:lstStyle/>
          <a:p>
            <a:pPr algn="just">
              <a:lnSpc>
                <a:spcPts val="4200"/>
              </a:lnSpc>
            </a:pPr>
            <a:r>
              <a:rPr lang="en-US" sz="3000">
                <a:solidFill>
                  <a:srgbClr val="252930"/>
                </a:solidFill>
                <a:latin typeface="Maven Pro"/>
                <a:ea typeface="Maven Pro"/>
                <a:cs typeface="Maven Pro"/>
                <a:sym typeface="Maven Pro"/>
              </a:rPr>
              <a:t>Roll no : CB.SC.U4CSE23650</a:t>
            </a:r>
          </a:p>
          <a:p>
            <a:pPr algn="just">
              <a:lnSpc>
                <a:spcPts val="4200"/>
              </a:lnSpc>
            </a:pPr>
            <a:r>
              <a:rPr lang="en-US" sz="3000">
                <a:solidFill>
                  <a:srgbClr val="252930"/>
                </a:solidFill>
                <a:latin typeface="Maven Pro"/>
                <a:ea typeface="Maven Pro"/>
                <a:cs typeface="Maven Pro"/>
                <a:sym typeface="Maven Pro"/>
              </a:rPr>
              <a:t>NAME : Rudrapaka Akhil</a:t>
            </a:r>
          </a:p>
        </p:txBody>
      </p:sp>
      <p:grpSp>
        <p:nvGrpSpPr>
          <p:cNvPr id="11" name="Group 11"/>
          <p:cNvGrpSpPr/>
          <p:nvPr/>
        </p:nvGrpSpPr>
        <p:grpSpPr>
          <a:xfrm>
            <a:off x="1028700" y="6380948"/>
            <a:ext cx="16230600" cy="1440796"/>
            <a:chOff x="0" y="0"/>
            <a:chExt cx="4274726" cy="379469"/>
          </a:xfrm>
        </p:grpSpPr>
        <p:sp>
          <p:nvSpPr>
            <p:cNvPr id="12" name="Freeform 12"/>
            <p:cNvSpPr/>
            <p:nvPr/>
          </p:nvSpPr>
          <p:spPr>
            <a:xfrm>
              <a:off x="0" y="0"/>
              <a:ext cx="4274726" cy="379469"/>
            </a:xfrm>
            <a:custGeom>
              <a:avLst/>
              <a:gdLst/>
              <a:ahLst/>
              <a:cxnLst/>
              <a:rect l="l" t="t" r="r" b="b"/>
              <a:pathLst>
                <a:path w="4274726" h="379469">
                  <a:moveTo>
                    <a:pt x="24327" y="0"/>
                  </a:moveTo>
                  <a:lnTo>
                    <a:pt x="4250399" y="0"/>
                  </a:lnTo>
                  <a:cubicBezTo>
                    <a:pt x="4263834" y="0"/>
                    <a:pt x="4274726" y="10891"/>
                    <a:pt x="4274726" y="24327"/>
                  </a:cubicBezTo>
                  <a:lnTo>
                    <a:pt x="4274726" y="355142"/>
                  </a:lnTo>
                  <a:cubicBezTo>
                    <a:pt x="4274726" y="368578"/>
                    <a:pt x="4263834" y="379469"/>
                    <a:pt x="4250399" y="379469"/>
                  </a:cubicBezTo>
                  <a:lnTo>
                    <a:pt x="24327" y="379469"/>
                  </a:lnTo>
                  <a:cubicBezTo>
                    <a:pt x="10891" y="379469"/>
                    <a:pt x="0" y="368578"/>
                    <a:pt x="0" y="355142"/>
                  </a:cubicBezTo>
                  <a:lnTo>
                    <a:pt x="0" y="24327"/>
                  </a:lnTo>
                  <a:cubicBezTo>
                    <a:pt x="0" y="10891"/>
                    <a:pt x="10891" y="0"/>
                    <a:pt x="24327" y="0"/>
                  </a:cubicBezTo>
                  <a:close/>
                </a:path>
              </a:pathLst>
            </a:custGeom>
            <a:solidFill>
              <a:srgbClr val="C0B3A0">
                <a:alpha val="53725"/>
              </a:srgbClr>
            </a:solidFill>
          </p:spPr>
        </p:sp>
        <p:sp>
          <p:nvSpPr>
            <p:cNvPr id="13" name="TextBox 13"/>
            <p:cNvSpPr txBox="1"/>
            <p:nvPr/>
          </p:nvSpPr>
          <p:spPr>
            <a:xfrm>
              <a:off x="0" y="-38100"/>
              <a:ext cx="4274726" cy="417569"/>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p:cNvSpPr txBox="1"/>
          <p:nvPr/>
        </p:nvSpPr>
        <p:spPr>
          <a:xfrm>
            <a:off x="3714724" y="6487443"/>
            <a:ext cx="8691937" cy="1066800"/>
          </a:xfrm>
          <a:prstGeom prst="rect">
            <a:avLst/>
          </a:prstGeom>
        </p:spPr>
        <p:txBody>
          <a:bodyPr lIns="0" tIns="0" rIns="0" bIns="0" rtlCol="0" anchor="t">
            <a:spAutoFit/>
          </a:bodyPr>
          <a:lstStyle/>
          <a:p>
            <a:pPr algn="just">
              <a:lnSpc>
                <a:spcPts val="4200"/>
              </a:lnSpc>
            </a:pPr>
            <a:r>
              <a:rPr lang="en-US" sz="3000">
                <a:solidFill>
                  <a:srgbClr val="252930"/>
                </a:solidFill>
                <a:latin typeface="Maven Pro"/>
                <a:ea typeface="Maven Pro"/>
                <a:cs typeface="Maven Pro"/>
                <a:sym typeface="Maven Pro"/>
              </a:rPr>
              <a:t>Roll no : CB.SC.U4CSE23655</a:t>
            </a:r>
          </a:p>
          <a:p>
            <a:pPr algn="just">
              <a:lnSpc>
                <a:spcPts val="4200"/>
              </a:lnSpc>
            </a:pPr>
            <a:r>
              <a:rPr lang="en-US" sz="3000">
                <a:solidFill>
                  <a:srgbClr val="252930"/>
                </a:solidFill>
                <a:latin typeface="Maven Pro"/>
                <a:ea typeface="Maven Pro"/>
                <a:cs typeface="Maven Pro"/>
                <a:sym typeface="Maven Pro"/>
              </a:rPr>
              <a:t>NAME : D Uday Kumar</a:t>
            </a:r>
          </a:p>
        </p:txBody>
      </p:sp>
      <p:sp>
        <p:nvSpPr>
          <p:cNvPr id="15" name="Freeform 15"/>
          <p:cNvSpPr/>
          <p:nvPr/>
        </p:nvSpPr>
        <p:spPr>
          <a:xfrm flipH="1">
            <a:off x="-211950" y="-104775"/>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6" name="Freeform 16"/>
          <p:cNvSpPr/>
          <p:nvPr/>
        </p:nvSpPr>
        <p:spPr>
          <a:xfrm>
            <a:off x="17773650" y="8229600"/>
            <a:ext cx="516220" cy="2057400"/>
          </a:xfrm>
          <a:custGeom>
            <a:avLst/>
            <a:gdLst/>
            <a:ahLst/>
            <a:cxnLst/>
            <a:rect l="l" t="t" r="r" b="b"/>
            <a:pathLst>
              <a:path w="516220" h="2057400">
                <a:moveTo>
                  <a:pt x="0" y="0"/>
                </a:moveTo>
                <a:lnTo>
                  <a:pt x="516220" y="0"/>
                </a:lnTo>
                <a:lnTo>
                  <a:pt x="516220"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7" name="Freeform 17"/>
          <p:cNvSpPr/>
          <p:nvPr/>
        </p:nvSpPr>
        <p:spPr>
          <a:xfrm>
            <a:off x="14542983" y="9077308"/>
            <a:ext cx="2716317" cy="1358159"/>
          </a:xfrm>
          <a:custGeom>
            <a:avLst/>
            <a:gdLst/>
            <a:ahLst/>
            <a:cxnLst/>
            <a:rect l="l" t="t" r="r" b="b"/>
            <a:pathLst>
              <a:path w="2716317" h="1358159">
                <a:moveTo>
                  <a:pt x="0" y="0"/>
                </a:moveTo>
                <a:lnTo>
                  <a:pt x="2716317" y="0"/>
                </a:lnTo>
                <a:lnTo>
                  <a:pt x="2716317" y="1358159"/>
                </a:lnTo>
                <a:lnTo>
                  <a:pt x="0" y="135815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18" name="Group 18"/>
          <p:cNvGrpSpPr/>
          <p:nvPr/>
        </p:nvGrpSpPr>
        <p:grpSpPr>
          <a:xfrm>
            <a:off x="1028700" y="8089409"/>
            <a:ext cx="16230600" cy="1440796"/>
            <a:chOff x="0" y="0"/>
            <a:chExt cx="4274726" cy="379469"/>
          </a:xfrm>
        </p:grpSpPr>
        <p:sp>
          <p:nvSpPr>
            <p:cNvPr id="19" name="Freeform 19"/>
            <p:cNvSpPr/>
            <p:nvPr/>
          </p:nvSpPr>
          <p:spPr>
            <a:xfrm>
              <a:off x="0" y="0"/>
              <a:ext cx="4274726" cy="379469"/>
            </a:xfrm>
            <a:custGeom>
              <a:avLst/>
              <a:gdLst/>
              <a:ahLst/>
              <a:cxnLst/>
              <a:rect l="l" t="t" r="r" b="b"/>
              <a:pathLst>
                <a:path w="4274726" h="379469">
                  <a:moveTo>
                    <a:pt x="24327" y="0"/>
                  </a:moveTo>
                  <a:lnTo>
                    <a:pt x="4250399" y="0"/>
                  </a:lnTo>
                  <a:cubicBezTo>
                    <a:pt x="4263834" y="0"/>
                    <a:pt x="4274726" y="10891"/>
                    <a:pt x="4274726" y="24327"/>
                  </a:cubicBezTo>
                  <a:lnTo>
                    <a:pt x="4274726" y="355142"/>
                  </a:lnTo>
                  <a:cubicBezTo>
                    <a:pt x="4274726" y="368578"/>
                    <a:pt x="4263834" y="379469"/>
                    <a:pt x="4250399" y="379469"/>
                  </a:cubicBezTo>
                  <a:lnTo>
                    <a:pt x="24327" y="379469"/>
                  </a:lnTo>
                  <a:cubicBezTo>
                    <a:pt x="10891" y="379469"/>
                    <a:pt x="0" y="368578"/>
                    <a:pt x="0" y="355142"/>
                  </a:cubicBezTo>
                  <a:lnTo>
                    <a:pt x="0" y="24327"/>
                  </a:lnTo>
                  <a:cubicBezTo>
                    <a:pt x="0" y="10891"/>
                    <a:pt x="10891" y="0"/>
                    <a:pt x="24327" y="0"/>
                  </a:cubicBezTo>
                  <a:close/>
                </a:path>
              </a:pathLst>
            </a:custGeom>
            <a:solidFill>
              <a:srgbClr val="C0B3A0">
                <a:alpha val="53725"/>
              </a:srgbClr>
            </a:solidFill>
          </p:spPr>
        </p:sp>
        <p:sp>
          <p:nvSpPr>
            <p:cNvPr id="20" name="TextBox 20"/>
            <p:cNvSpPr txBox="1"/>
            <p:nvPr/>
          </p:nvSpPr>
          <p:spPr>
            <a:xfrm>
              <a:off x="0" y="-38100"/>
              <a:ext cx="4274726" cy="417569"/>
            </a:xfrm>
            <a:prstGeom prst="rect">
              <a:avLst/>
            </a:prstGeom>
          </p:spPr>
          <p:txBody>
            <a:bodyPr lIns="50800" tIns="50800" rIns="50800" bIns="50800" rtlCol="0" anchor="ctr"/>
            <a:lstStyle/>
            <a:p>
              <a:pPr algn="ctr">
                <a:lnSpc>
                  <a:spcPts val="2659"/>
                </a:lnSpc>
                <a:spcBef>
                  <a:spcPct val="0"/>
                </a:spcBef>
              </a:pPr>
              <a:endParaRPr/>
            </a:p>
          </p:txBody>
        </p:sp>
      </p:grpSp>
      <p:sp>
        <p:nvSpPr>
          <p:cNvPr id="21" name="TextBox 21"/>
          <p:cNvSpPr txBox="1"/>
          <p:nvPr/>
        </p:nvSpPr>
        <p:spPr>
          <a:xfrm>
            <a:off x="3714724" y="8276407"/>
            <a:ext cx="8691937" cy="1066800"/>
          </a:xfrm>
          <a:prstGeom prst="rect">
            <a:avLst/>
          </a:prstGeom>
        </p:spPr>
        <p:txBody>
          <a:bodyPr lIns="0" tIns="0" rIns="0" bIns="0" rtlCol="0" anchor="t">
            <a:spAutoFit/>
          </a:bodyPr>
          <a:lstStyle/>
          <a:p>
            <a:pPr algn="just">
              <a:lnSpc>
                <a:spcPts val="4200"/>
              </a:lnSpc>
            </a:pPr>
            <a:r>
              <a:rPr lang="en-US" sz="3000" dirty="0">
                <a:solidFill>
                  <a:srgbClr val="252930"/>
                </a:solidFill>
                <a:latin typeface="Maven Pro"/>
                <a:ea typeface="Maven Pro"/>
                <a:cs typeface="Maven Pro"/>
                <a:sym typeface="Maven Pro"/>
              </a:rPr>
              <a:t>Roll no : CB.SC.U4CSE23663</a:t>
            </a:r>
          </a:p>
          <a:p>
            <a:pPr algn="just">
              <a:lnSpc>
                <a:spcPts val="4200"/>
              </a:lnSpc>
            </a:pPr>
            <a:r>
              <a:rPr lang="en-US" sz="3000" dirty="0">
                <a:solidFill>
                  <a:srgbClr val="252930"/>
                </a:solidFill>
                <a:latin typeface="Maven Pro"/>
                <a:ea typeface="Maven Pro"/>
                <a:cs typeface="Maven Pro"/>
                <a:sym typeface="Maven Pro"/>
              </a:rPr>
              <a:t>NAME : P Bhanu Prakash Reddy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3E6E0"/>
        </a:solidFill>
        <a:effectLst/>
      </p:bgPr>
    </p:bg>
    <p:spTree>
      <p:nvGrpSpPr>
        <p:cNvPr id="1" name=""/>
        <p:cNvGrpSpPr/>
        <p:nvPr/>
      </p:nvGrpSpPr>
      <p:grpSpPr>
        <a:xfrm>
          <a:off x="0" y="0"/>
          <a:ext cx="0" cy="0"/>
          <a:chOff x="0" y="0"/>
          <a:chExt cx="0" cy="0"/>
        </a:xfrm>
      </p:grpSpPr>
      <p:sp>
        <p:nvSpPr>
          <p:cNvPr id="2" name="TextBox 2"/>
          <p:cNvSpPr txBox="1"/>
          <p:nvPr/>
        </p:nvSpPr>
        <p:spPr>
          <a:xfrm>
            <a:off x="2754150" y="3832722"/>
            <a:ext cx="12779699" cy="1791414"/>
          </a:xfrm>
          <a:prstGeom prst="rect">
            <a:avLst/>
          </a:prstGeom>
        </p:spPr>
        <p:txBody>
          <a:bodyPr lIns="0" tIns="0" rIns="0" bIns="0" rtlCol="0" anchor="t">
            <a:spAutoFit/>
          </a:bodyPr>
          <a:lstStyle/>
          <a:p>
            <a:pPr algn="ctr">
              <a:lnSpc>
                <a:spcPts val="12435"/>
              </a:lnSpc>
            </a:pPr>
            <a:r>
              <a:rPr lang="en-US" sz="15544" b="1">
                <a:solidFill>
                  <a:srgbClr val="252D37"/>
                </a:solidFill>
                <a:latin typeface="Maven Pro Bold"/>
                <a:ea typeface="Maven Pro Bold"/>
                <a:cs typeface="Maven Pro Bold"/>
                <a:sym typeface="Maven Pro Bold"/>
              </a:rPr>
              <a:t>Thank You</a:t>
            </a:r>
          </a:p>
        </p:txBody>
      </p:sp>
      <p:sp>
        <p:nvSpPr>
          <p:cNvPr id="3" name="Freeform 3"/>
          <p:cNvSpPr/>
          <p:nvPr/>
        </p:nvSpPr>
        <p:spPr>
          <a:xfrm>
            <a:off x="0" y="6974593"/>
            <a:ext cx="809919" cy="3227938"/>
          </a:xfrm>
          <a:custGeom>
            <a:avLst/>
            <a:gdLst/>
            <a:ahLst/>
            <a:cxnLst/>
            <a:rect l="l" t="t" r="r" b="b"/>
            <a:pathLst>
              <a:path w="809919" h="3227938">
                <a:moveTo>
                  <a:pt x="0" y="0"/>
                </a:moveTo>
                <a:lnTo>
                  <a:pt x="809919" y="0"/>
                </a:lnTo>
                <a:lnTo>
                  <a:pt x="809919" y="3227938"/>
                </a:lnTo>
                <a:lnTo>
                  <a:pt x="0" y="322793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613969" y="8304597"/>
            <a:ext cx="4261740" cy="2130870"/>
          </a:xfrm>
          <a:custGeom>
            <a:avLst/>
            <a:gdLst/>
            <a:ahLst/>
            <a:cxnLst/>
            <a:rect l="l" t="t" r="r" b="b"/>
            <a:pathLst>
              <a:path w="4261740" h="2130870">
                <a:moveTo>
                  <a:pt x="0" y="0"/>
                </a:moveTo>
                <a:lnTo>
                  <a:pt x="4261740" y="0"/>
                </a:lnTo>
                <a:lnTo>
                  <a:pt x="4261740" y="2130870"/>
                </a:lnTo>
                <a:lnTo>
                  <a:pt x="0" y="213087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10800000">
            <a:off x="17582856" y="118636"/>
            <a:ext cx="809919" cy="3227938"/>
          </a:xfrm>
          <a:custGeom>
            <a:avLst/>
            <a:gdLst/>
            <a:ahLst/>
            <a:cxnLst/>
            <a:rect l="l" t="t" r="r" b="b"/>
            <a:pathLst>
              <a:path w="809919" h="3227938">
                <a:moveTo>
                  <a:pt x="0" y="0"/>
                </a:moveTo>
                <a:lnTo>
                  <a:pt x="809919" y="0"/>
                </a:lnTo>
                <a:lnTo>
                  <a:pt x="809919" y="3227938"/>
                </a:lnTo>
                <a:lnTo>
                  <a:pt x="0" y="322793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rot="-10800000">
            <a:off x="12517066" y="-114300"/>
            <a:ext cx="4261740" cy="2130870"/>
          </a:xfrm>
          <a:custGeom>
            <a:avLst/>
            <a:gdLst/>
            <a:ahLst/>
            <a:cxnLst/>
            <a:rect l="l" t="t" r="r" b="b"/>
            <a:pathLst>
              <a:path w="4261740" h="2130870">
                <a:moveTo>
                  <a:pt x="0" y="0"/>
                </a:moveTo>
                <a:lnTo>
                  <a:pt x="4261740" y="0"/>
                </a:lnTo>
                <a:lnTo>
                  <a:pt x="4261740" y="2130870"/>
                </a:lnTo>
                <a:lnTo>
                  <a:pt x="0" y="213087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TotalTime>
  <Words>1315</Words>
  <Application>Microsoft Office PowerPoint</Application>
  <PresentationFormat>Custom</PresentationFormat>
  <Paragraphs>153</Paragraphs>
  <Slides>13</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13</vt:i4>
      </vt:variant>
    </vt:vector>
  </HeadingPairs>
  <TitlesOfParts>
    <vt:vector size="24" baseType="lpstr">
      <vt:lpstr>Maven Pro</vt:lpstr>
      <vt:lpstr>Arial</vt:lpstr>
      <vt:lpstr>Alike</vt:lpstr>
      <vt:lpstr>Luciole</vt:lpstr>
      <vt:lpstr>Fahkwang Bold</vt:lpstr>
      <vt:lpstr>Maven Pro Bold</vt:lpstr>
      <vt:lpstr>Arial Black</vt:lpstr>
      <vt:lpstr>Calibri</vt:lpstr>
      <vt:lpstr>Eras Bold ITC</vt:lpstr>
      <vt:lpstr>Alike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 Project</dc:title>
  <cp:lastModifiedBy>Akhil Rudrapaka</cp:lastModifiedBy>
  <cp:revision>7</cp:revision>
  <dcterms:created xsi:type="dcterms:W3CDTF">2006-08-16T00:00:00Z</dcterms:created>
  <dcterms:modified xsi:type="dcterms:W3CDTF">2025-03-27T03:50:07Z</dcterms:modified>
  <dc:identifier>DAGiu8dQ05k</dc:identifier>
</cp:coreProperties>
</file>